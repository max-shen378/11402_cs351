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1" r:id="rId15"/>
    <p:sldId id="27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snapToObjects="1">
      <p:cViewPr varScale="1">
        <p:scale>
          <a:sx n="82" d="100"/>
          <a:sy n="82" d="100"/>
        </p:scale>
        <p:origin x="69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2080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My name is Max Shen, student ID 1123534, GitHub account max-shen378. This is my final demo for CS351, Introduction to Software Engineering Tools. I called the talk 'From Git Basics to a C++ Query Engine' because that is literally the arc of my semester: we started with creating a GitHub account and writing Markdown, and I finished by building a small SQL-like database engine in C++ with tests and benchmarks. In the next 25 minutes I will walk through my website, my course repositories, both projects, my GitHub workflow, how I used AI tools responsibly, and finish with a live demo.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roadmap. I will keep the early parts brief — learning summary, website, course repo — and spend the most time on the two projects and the live demo. Projects get multiple slides each: the algorithm and testing story for Two Sum, and the architecture, data design, and performance trade-offs for the CSV database. Around minute 20 I will switch to the terminal and browser for the live demo, leaving time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single biggest change this semester is the last box. Before this course, finishing a program meant it ran once on my machine. Now finishing means: it is in version control with meaningful history, it has tests that prove it works, documentation that explains it, and CI that re-checks it on every push. The tool list looks long, but they all serve that one idea. I also learned to treat AI assistants as a tool in this chain — useful, but everything gets verified before it is committed.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personal site is at max-shen378.github.io, hosted on GitHub Pages. It is deliberately plain HTML, CSS and vanilla JavaScript — no frameworks — because the goal was to understand the platform: a repo named after my username, pushed to main, served as a static site. The design is a dark developer portfolio with a pill navigation, scroll-reveal animations done with IntersectionObserver, and a live Taiwan clock. The honest reflection: the commit history shows how it evolved — I started with a simple page, added sections, then did a full redesign and finally separated the CSS and JS into their own files. Each iteration was a commit, so the site doubled as Git practice. I'll open it live during the demo.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course repository 11402_CS351 is the administrative hub of the semester. Assignment I lived here: setting up the GitHub account and profile, publishing the Pages site, and writing structured Markdown — tables, checklists, links. One thing I want to highlight honestly: the top commit is a merge-conflict resolution. Early on my local and remote histories diverged and I had to actually understand pull, merge, and conflict markers instead of copy-pasting commands. That mistake taught me more about Git than the happy path did.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 0 is the classic Two Sum problem, and the point of the assignment was not just to solve it but to solve it twice. The brute force version checks every pair — quadratic time, constant space. The optimized version makes a single pass: for each element it computes the complement, target minus the current value, and asks a hash map 'have I already seen this complement?' If yes, done; if no, store the current value and index. That trades O(n) memory for O(n) time. The four-line loop on screen is the whole trick — and interestingly, the same hash-lookup idea comes back later as the index in my Project B database engine.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Testing is where this project got interesting. Forty tests across six suites — basic functionality, edge cases, negative numbers, duplicates, boundaries, special cases — and I re-ran them this week: 40 out of 40. But they didn't start at 40. Originally seven tests failed, and the lesson was that the tests were wrong, not the code: they asserted one specific index pair, while many inputs have several valid answers. The fix was to assert the property — the two returned values actually sum to the target — instead of hard-coded indices. That changed how I think about writing assertions. The CI side runs the same suite on Ubuntu, Windows and macOS plus cppcheck static analysis on every push, so a regression cannot sneak in silently.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 B is the centerpiece: a miniature database engine in modern C++ with zero external dependencies — I wrote the CSV parser myself instead of pulling a library, which was one of the allowed options. The architecture is a classic database pipeline, and each stage is its own header-only module: the CSV parser turns raw text into records; the table layer infers a schema and stores typed values; the query layer tokenizes and parses a small SQL dialect into an AST; and the executor runs the pipeline — filter, join, group, sort — and even reports what plan it chose. Everything compiles with a single g++ command, which made it easy for anyone to build and grade. I test it against the classic Iris dataset from Kaggle.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what using it feels like. The first query is the one I always show: group the 150 iris flowers by species, count them, and average the petal length — three species, fifty rows each, and you can see virginica has by far the longest petals. The second query joins the measurement table against a small species-info lookup table — and notice the engine prints its plan: it chose a hash join. The grammar supports filtering with boolean logic, the five standard aggregates, grouping, sorting, limits, joins and aliases, with SQL-style NULL handling. The REPL also has meta-commands for schema inspection, building indexes, and timing. All of this I will run live in the demo.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design decisions define the engine. First, every cell is a tagged variant — null, bool, integer, double, or string — with SQL comparison semantics. Second, types are inferred by scanning the whole column with a precedence order, so the Iris measurements really are doubles and comparisons are numeric, not string-based. Third, storage is row-major, which is the simple, honest choice — I note in the README that a columnar layout would be faster for single-column aggregation; knowing the trade-off matters more than premature optimization. Fourth, the hash index maps a value to its row ids and accelerates both WHERE equality filters and joins. And underneath it all is the part I'm proudest of: a hand-written, single-pass CSV state machine that survives quoted commas, escaped quotes, and even newlines inside fields.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 B also followed the branch-and-PR workflow: the repo and spec went in through two pull requests in April, and the engine itself landed in June. Quality has two halves. The test suite has 164 checks and they are not toy assertions: the parser is tested against hostile CSV — embedded newlines, escaped quotes, malformed rows that must throw — and the engine is validated against facts about Iris that I can verify independently, like the famous 5.8433 average sepal length. My favorite tests are the property checks: a predicate and its negation must partition the table, and an indexed query must return exactly the same rows as a full scan. Error handling is deliberate too — bad input gets a clear message, never a crash.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evidence slide — the numbers behind the workflow story, all checkable on my GitHub profile. Across the four course repositories: 38 commits, six merged pull requests, and feature branches with real names you can still see in the repos. Two details I want to point out. First, commit messages carry task codes like SG11402-3, so you can trace a requirement to the exact commits that implemented it — that is the traceability idea from the documentation applied to version control. Second, even working solo, everything merged to main through a pull request, because the PR is where CI runs and where the change gets a second look — even if the second look is me, the next morning.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used AI assistants throughout the semester, so this reflection is from real experience. Where AI genuinely helped: speed on boilerplate and test scaffolding, and breadth — it suggested edge cases like CRLF line endings and newlines inside quoted CSV fields that I would not have thought to test. Where it failed: anything it could not see. The best example is a segfault in Project B that turned out to be mismatched MinGW runtime DLLs on my machine — no AI could know my PATH; I had to run ldd and diagnose it myself. My verification routine became: compile with all warnings, run the full test suites, cross-check against facts I know independently, and read every line before committing. The rule I keep: never commit code I cannot explain. If I can't explain it, I don't own it — and on demo day, I have to own all of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honest lists. What I learned is really one thing wearing five hats: a workflow that makes software trustworthy — version control, tests, documentation, automation, and verified use of AI. What I would improve: my commit hygiene got better over the semester but the early history shows messages like 'update'; I would also set up CI before writing code, not after, and there are concrete features left on both projects' roadmaps. How it helps my future: this is the exact toolchain I will meet in any internship, and the projects are public — anyone can read not just my code but how I got there, which I think is the real portfolio.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That's my semester: from a first Markdown README to a working database engine, with every step versioned, tested and documented. All five repositories are public at github.com/max-shen378 — the links are on screen, and the deck plus a full demo script are in the repos too. Thank you for the course, and I'm happy to take questions: about the projects, the workflow, the AI reflection, or anything you'd like me to run live.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max-shen378.github.io/"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github.com/max-shen378/11402_CS351"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max-shen378/11402_CS5351_Project0"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hyperlink" Target="https://github.com/max-shen378/11402_CS5351_ProjectB" TargetMode="Externa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914400"/>
            <a:ext cx="7315200" cy="200055"/>
          </a:xfrm>
          <a:prstGeom prst="rect">
            <a:avLst/>
          </a:prstGeom>
          <a:noFill/>
        </p:spPr>
        <p:txBody>
          <a:bodyPr wrap="square" lIns="0" tIns="0" rIns="0" bIns="0" anchor="t">
            <a:spAutoFit/>
          </a:bodyPr>
          <a:lstStyle/>
          <a:p>
            <a:pPr algn="l"/>
            <a:r>
              <a:rPr sz="1300" b="1" i="0" dirty="0">
                <a:solidFill>
                  <a:srgbClr val="58A6FF"/>
                </a:solidFill>
                <a:latin typeface="Consolas"/>
              </a:rPr>
              <a:t>CS351 · </a:t>
            </a:r>
            <a:r>
              <a:rPr lang="en-US" sz="1300" b="1" i="0" dirty="0">
                <a:solidFill>
                  <a:srgbClr val="58A6FF"/>
                </a:solidFill>
                <a:latin typeface="Consolas"/>
              </a:rPr>
              <a:t>AI ASSISTED SOFTWARE DEVELOPMENT</a:t>
            </a:r>
            <a:r>
              <a:rPr sz="1300" b="1" i="0" dirty="0">
                <a:solidFill>
                  <a:srgbClr val="58A6FF"/>
                </a:solidFill>
                <a:latin typeface="Consolas"/>
              </a:rPr>
              <a:t>· FINAL DEMO</a:t>
            </a:r>
          </a:p>
        </p:txBody>
      </p:sp>
      <p:sp>
        <p:nvSpPr>
          <p:cNvPr id="4" name="TextBox 3"/>
          <p:cNvSpPr txBox="1"/>
          <p:nvPr/>
        </p:nvSpPr>
        <p:spPr>
          <a:xfrm>
            <a:off x="685800" y="1325880"/>
            <a:ext cx="7498079" cy="1920240"/>
          </a:xfrm>
          <a:prstGeom prst="rect">
            <a:avLst/>
          </a:prstGeom>
          <a:noFill/>
        </p:spPr>
        <p:txBody>
          <a:bodyPr wrap="square" lIns="0" tIns="0" rIns="0" bIns="0" anchor="t">
            <a:spAutoFit/>
          </a:bodyPr>
          <a:lstStyle/>
          <a:p>
            <a:pPr algn="l">
              <a:lnSpc>
                <a:spcPct val="105000"/>
              </a:lnSpc>
            </a:pPr>
            <a:r>
              <a:rPr sz="4400" b="1" i="0">
                <a:solidFill>
                  <a:srgbClr val="E6EDF3"/>
                </a:solidFill>
                <a:latin typeface="Consolas"/>
              </a:rPr>
              <a:t>From Git Basics to a</a:t>
            </a:r>
          </a:p>
          <a:p>
            <a:pPr algn="l">
              <a:lnSpc>
                <a:spcPct val="105000"/>
              </a:lnSpc>
            </a:pPr>
            <a:r>
              <a:rPr sz="4400" b="1" i="0">
                <a:solidFill>
                  <a:srgbClr val="2DD4BF"/>
                </a:solidFill>
                <a:latin typeface="Consolas"/>
              </a:rPr>
              <a:t>C++ Query Engine</a:t>
            </a:r>
          </a:p>
        </p:txBody>
      </p:sp>
      <p:sp>
        <p:nvSpPr>
          <p:cNvPr id="5" name="TextBox 4"/>
          <p:cNvSpPr txBox="1"/>
          <p:nvPr/>
        </p:nvSpPr>
        <p:spPr>
          <a:xfrm>
            <a:off x="685800" y="3063240"/>
            <a:ext cx="6949440" cy="549638"/>
          </a:xfrm>
          <a:prstGeom prst="rect">
            <a:avLst/>
          </a:prstGeom>
          <a:noFill/>
        </p:spPr>
        <p:txBody>
          <a:bodyPr wrap="square" lIns="0" tIns="0" rIns="0" bIns="0" anchor="t">
            <a:spAutoFit/>
          </a:bodyPr>
          <a:lstStyle/>
          <a:p>
            <a:pPr algn="l">
              <a:lnSpc>
                <a:spcPct val="115000"/>
              </a:lnSpc>
            </a:pPr>
            <a:r>
              <a:rPr sz="1600" b="0" i="0" dirty="0">
                <a:solidFill>
                  <a:srgbClr val="8B949E"/>
                </a:solidFill>
                <a:latin typeface="Calibri"/>
              </a:rPr>
              <a:t>One semester of version control, CI/CD, documentation,
AI-assisted development  and  C++ projects.</a:t>
            </a:r>
          </a:p>
        </p:txBody>
      </p:sp>
      <p:sp>
        <p:nvSpPr>
          <p:cNvPr id="6" name="Rounded Rectangle 5"/>
          <p:cNvSpPr/>
          <p:nvPr/>
        </p:nvSpPr>
        <p:spPr>
          <a:xfrm>
            <a:off x="1037750" y="4523326"/>
            <a:ext cx="3122769" cy="425695"/>
          </a:xfrm>
          <a:prstGeom prst="roundRect">
            <a:avLst>
              <a:gd name="adj" fmla="val 50000"/>
            </a:avLst>
          </a:prstGeom>
          <a:solidFill>
            <a:srgbClr val="1C232D"/>
          </a:solidFill>
          <a:ln w="12700">
            <a:solidFill>
              <a:srgbClr val="E6EDF3"/>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E6EDF3"/>
                </a:solidFill>
                <a:latin typeface="Consolas"/>
              </a:rPr>
              <a:t>Max Shen · 1123534</a:t>
            </a:r>
          </a:p>
        </p:txBody>
      </p:sp>
      <p:sp>
        <p:nvSpPr>
          <p:cNvPr id="7" name="Rounded Rectangle 6"/>
          <p:cNvSpPr/>
          <p:nvPr/>
        </p:nvSpPr>
        <p:spPr>
          <a:xfrm>
            <a:off x="1037751" y="4005072"/>
            <a:ext cx="1188720" cy="310896"/>
          </a:xfrm>
          <a:prstGeom prst="roundRect">
            <a:avLst>
              <a:gd name="adj" fmla="val 50000"/>
            </a:avLst>
          </a:prstGeom>
          <a:solidFill>
            <a:srgbClr val="1C232D"/>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58A6FF"/>
                </a:solidFill>
                <a:latin typeface="Consolas"/>
              </a:rPr>
              <a:t>@max-shen378</a:t>
            </a:r>
          </a:p>
        </p:txBody>
      </p:sp>
      <p:sp>
        <p:nvSpPr>
          <p:cNvPr id="8" name="Rounded Rectangle 7"/>
          <p:cNvSpPr/>
          <p:nvPr/>
        </p:nvSpPr>
        <p:spPr>
          <a:xfrm>
            <a:off x="2272284" y="4005072"/>
            <a:ext cx="1888236" cy="310896"/>
          </a:xfrm>
          <a:prstGeom prst="roundRect">
            <a:avLst>
              <a:gd name="adj" fmla="val 50000"/>
            </a:avLst>
          </a:prstGeom>
          <a:solidFill>
            <a:srgbClr val="1C232D"/>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2DD4BF"/>
                </a:solidFill>
                <a:latin typeface="Consolas"/>
              </a:rPr>
              <a:t>max-shen378.github.io</a:t>
            </a:r>
          </a:p>
        </p:txBody>
      </p:sp>
      <p:sp>
        <p:nvSpPr>
          <p:cNvPr id="10" name="Rounded Rectangle 9"/>
          <p:cNvSpPr/>
          <p:nvPr/>
        </p:nvSpPr>
        <p:spPr>
          <a:xfrm>
            <a:off x="8229600" y="1325880"/>
            <a:ext cx="3383280" cy="274320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375904" y="1453895"/>
            <a:ext cx="100584" cy="100584"/>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577072" y="1453895"/>
            <a:ext cx="100584" cy="100584"/>
          </a:xfrm>
          <a:prstGeom prst="ellipse">
            <a:avLst/>
          </a:prstGeom>
          <a:solidFill>
            <a:srgbClr val="D299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778240" y="1453895"/>
            <a:ext cx="100584" cy="100584"/>
          </a:xfrm>
          <a:prstGeom prst="ellipse">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52560" y="1417320"/>
            <a:ext cx="2468880" cy="219456"/>
          </a:xfrm>
          <a:prstGeom prst="rect">
            <a:avLst/>
          </a:prstGeom>
          <a:noFill/>
        </p:spPr>
        <p:txBody>
          <a:bodyPr wrap="square" lIns="0" tIns="0" rIns="0" bIns="0" anchor="t">
            <a:spAutoFit/>
          </a:bodyPr>
          <a:lstStyle/>
          <a:p>
            <a:pPr algn="l"/>
            <a:r>
              <a:rPr sz="1050" b="0" i="0">
                <a:solidFill>
                  <a:srgbClr val="8B949E"/>
                </a:solidFill>
                <a:latin typeface="Consolas"/>
              </a:rPr>
              <a:t>max@yzu: ~/cs351</a:t>
            </a:r>
          </a:p>
        </p:txBody>
      </p:sp>
      <p:sp>
        <p:nvSpPr>
          <p:cNvPr id="15" name="Rectangle 14"/>
          <p:cNvSpPr/>
          <p:nvPr/>
        </p:nvSpPr>
        <p:spPr>
          <a:xfrm>
            <a:off x="8229600" y="1673352"/>
            <a:ext cx="3383280" cy="1016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30768" y="1801368"/>
            <a:ext cx="3108960" cy="2194560"/>
          </a:xfrm>
          <a:prstGeom prst="rect">
            <a:avLst/>
          </a:prstGeom>
          <a:noFill/>
        </p:spPr>
        <p:txBody>
          <a:bodyPr wrap="square" lIns="0" tIns="0" rIns="0" bIns="0" anchor="t">
            <a:spAutoFit/>
          </a:bodyPr>
          <a:lstStyle/>
          <a:p>
            <a:pPr algn="l">
              <a:lnSpc>
                <a:spcPct val="112000"/>
              </a:lnSpc>
            </a:pPr>
            <a:r>
              <a:rPr sz="1200" b="0" i="0">
                <a:solidFill>
                  <a:srgbClr val="3FB950"/>
                </a:solidFill>
                <a:latin typeface="Consolas"/>
              </a:rPr>
              <a:t>$ </a:t>
            </a:r>
            <a:r>
              <a:rPr sz="1200" b="0" i="0">
                <a:solidFill>
                  <a:srgbClr val="E6EDF3"/>
                </a:solidFill>
                <a:latin typeface="Consolas"/>
              </a:rPr>
              <a:t>whoami</a:t>
            </a:r>
          </a:p>
          <a:p>
            <a:pPr algn="l">
              <a:lnSpc>
                <a:spcPct val="112000"/>
              </a:lnSpc>
            </a:pPr>
            <a:r>
              <a:rPr sz="1200" b="0" i="0">
                <a:solidFill>
                  <a:srgbClr val="8B949E"/>
                </a:solidFill>
                <a:latin typeface="Consolas"/>
              </a:rPr>
              <a:t>max-shen378</a:t>
            </a:r>
          </a:p>
          <a:p>
            <a:pPr algn="l">
              <a:lnSpc>
                <a:spcPct val="112000"/>
              </a:lnSpc>
            </a:pPr>
            <a:r>
              <a:rPr sz="1200" b="0" i="0">
                <a:solidFill>
                  <a:srgbClr val="3FB950"/>
                </a:solidFill>
                <a:latin typeface="Consolas"/>
              </a:rPr>
              <a:t>$ </a:t>
            </a:r>
            <a:r>
              <a:rPr sz="1200" b="0" i="0">
                <a:solidFill>
                  <a:srgbClr val="E6EDF3"/>
                </a:solidFill>
                <a:latin typeface="Consolas"/>
              </a:rPr>
              <a:t>git log --semester</a:t>
            </a:r>
          </a:p>
          <a:p>
            <a:pPr algn="l">
              <a:lnSpc>
                <a:spcPct val="112000"/>
              </a:lnSpc>
            </a:pPr>
            <a:r>
              <a:rPr sz="1200" b="0" i="0">
                <a:solidFill>
                  <a:srgbClr val="58A6FF"/>
                </a:solidFill>
                <a:latin typeface="Consolas"/>
              </a:rPr>
              <a:t>  5 repositories</a:t>
            </a:r>
          </a:p>
          <a:p>
            <a:pPr algn="l">
              <a:lnSpc>
                <a:spcPct val="112000"/>
              </a:lnSpc>
            </a:pPr>
            <a:r>
              <a:rPr sz="1200" b="0" i="0">
                <a:solidFill>
                  <a:srgbClr val="58A6FF"/>
                </a:solidFill>
                <a:latin typeface="Consolas"/>
              </a:rPr>
              <a:t>  39 commits</a:t>
            </a:r>
          </a:p>
          <a:p>
            <a:pPr algn="l">
              <a:lnSpc>
                <a:spcPct val="112000"/>
              </a:lnSpc>
            </a:pPr>
            <a:r>
              <a:rPr sz="1200" b="0" i="0">
                <a:solidFill>
                  <a:srgbClr val="58A6FF"/>
                </a:solidFill>
                <a:latin typeface="Consolas"/>
              </a:rPr>
              <a:t>  6 pull requests</a:t>
            </a:r>
          </a:p>
          <a:p>
            <a:pPr algn="l">
              <a:lnSpc>
                <a:spcPct val="112000"/>
              </a:lnSpc>
            </a:pPr>
            <a:r>
              <a:rPr sz="1200" b="0" i="0">
                <a:solidFill>
                  <a:srgbClr val="58A6FF"/>
                </a:solidFill>
                <a:latin typeface="Consolas"/>
              </a:rPr>
              <a:t>  2 C++ projects</a:t>
            </a:r>
          </a:p>
          <a:p>
            <a:pPr algn="l">
              <a:lnSpc>
                <a:spcPct val="112000"/>
              </a:lnSpc>
            </a:pPr>
            <a:r>
              <a:rPr sz="1200" b="0" i="0">
                <a:solidFill>
                  <a:srgbClr val="3FB950"/>
                </a:solidFill>
                <a:latin typeface="Consolas"/>
              </a:rPr>
              <a:t>$ </a:t>
            </a:r>
            <a:r>
              <a:rPr sz="1200" b="0" i="0">
                <a:solidFill>
                  <a:srgbClr val="E6EDF3"/>
                </a:solidFill>
                <a:latin typeface="Consolas"/>
              </a:rPr>
              <a:t>_</a:t>
            </a:r>
          </a:p>
        </p:txBody>
      </p:sp>
      <p:sp>
        <p:nvSpPr>
          <p:cNvPr id="17" name="TextBox 16"/>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01 / 1</a:t>
            </a:r>
            <a:r>
              <a:rPr lang="en-US" sz="1000" b="0" i="0" dirty="0">
                <a:solidFill>
                  <a:srgbClr val="8B949E"/>
                </a:solidFill>
                <a:latin typeface="Consolas"/>
              </a:rPr>
              <a:t>5</a:t>
            </a:r>
            <a:endParaRPr sz="1000" b="0" i="0" dirty="0">
              <a:solidFill>
                <a:srgbClr val="8B949E"/>
              </a:solidFill>
              <a:latin typeface="Consolas"/>
            </a:endParaRPr>
          </a:p>
        </p:txBody>
      </p:sp>
      <p:sp>
        <p:nvSpPr>
          <p:cNvPr id="18" name="TextBox 17"/>
          <p:cNvSpPr txBox="1"/>
          <p:nvPr/>
        </p:nvSpPr>
        <p:spPr>
          <a:xfrm>
            <a:off x="548640" y="6473952"/>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r>
              <a:rPr sz="1200" b="1" i="0">
                <a:solidFill>
                  <a:srgbClr val="58A6FF"/>
                </a:solidFill>
                <a:latin typeface="Consolas"/>
              </a:rPr>
              <a:t>$ cat agenda.md</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000" b="1" i="0">
                <a:solidFill>
                  <a:srgbClr val="E6EDF3"/>
                </a:solidFill>
                <a:latin typeface="Consolas"/>
              </a:rPr>
              <a:t>Agenda</a:t>
            </a:r>
          </a:p>
        </p:txBody>
      </p:sp>
      <p:sp>
        <p:nvSpPr>
          <p:cNvPr id="5" name="TextBox 4"/>
          <p:cNvSpPr txBox="1"/>
          <p:nvPr/>
        </p:nvSpPr>
        <p:spPr>
          <a:xfrm>
            <a:off x="822960" y="1828800"/>
            <a:ext cx="640080" cy="365760"/>
          </a:xfrm>
          <a:prstGeom prst="rect">
            <a:avLst/>
          </a:prstGeom>
          <a:noFill/>
        </p:spPr>
        <p:txBody>
          <a:bodyPr wrap="square" lIns="0" tIns="0" rIns="0" bIns="0" anchor="t">
            <a:spAutoFit/>
          </a:bodyPr>
          <a:lstStyle/>
          <a:p>
            <a:pPr algn="l"/>
            <a:r>
              <a:rPr sz="1800" b="1" i="0">
                <a:solidFill>
                  <a:srgbClr val="2DD4BF"/>
                </a:solidFill>
                <a:latin typeface="Consolas"/>
              </a:rPr>
              <a:t>01</a:t>
            </a:r>
          </a:p>
        </p:txBody>
      </p:sp>
      <p:sp>
        <p:nvSpPr>
          <p:cNvPr id="6" name="TextBox 5"/>
          <p:cNvSpPr txBox="1"/>
          <p:nvPr/>
        </p:nvSpPr>
        <p:spPr>
          <a:xfrm>
            <a:off x="1508760" y="1847088"/>
            <a:ext cx="4572000" cy="365760"/>
          </a:xfrm>
          <a:prstGeom prst="rect">
            <a:avLst/>
          </a:prstGeom>
          <a:noFill/>
        </p:spPr>
        <p:txBody>
          <a:bodyPr wrap="square" lIns="0" tIns="0" rIns="0" bIns="0" anchor="t">
            <a:spAutoFit/>
          </a:bodyPr>
          <a:lstStyle/>
          <a:p>
            <a:pPr algn="l"/>
            <a:r>
              <a:rPr sz="1700" b="0" i="0">
                <a:solidFill>
                  <a:srgbClr val="E6EDF3"/>
                </a:solidFill>
                <a:latin typeface="Calibri"/>
              </a:rPr>
              <a:t>Semester learning summary</a:t>
            </a:r>
          </a:p>
        </p:txBody>
      </p:sp>
      <p:sp>
        <p:nvSpPr>
          <p:cNvPr id="7" name="TextBox 6"/>
          <p:cNvSpPr txBox="1"/>
          <p:nvPr/>
        </p:nvSpPr>
        <p:spPr>
          <a:xfrm>
            <a:off x="822960" y="2487168"/>
            <a:ext cx="640080" cy="365760"/>
          </a:xfrm>
          <a:prstGeom prst="rect">
            <a:avLst/>
          </a:prstGeom>
          <a:noFill/>
        </p:spPr>
        <p:txBody>
          <a:bodyPr wrap="square" lIns="0" tIns="0" rIns="0" bIns="0" anchor="t">
            <a:spAutoFit/>
          </a:bodyPr>
          <a:lstStyle/>
          <a:p>
            <a:pPr algn="l"/>
            <a:r>
              <a:rPr sz="1800" b="1" i="0">
                <a:solidFill>
                  <a:srgbClr val="2DD4BF"/>
                </a:solidFill>
                <a:latin typeface="Consolas"/>
              </a:rPr>
              <a:t>02</a:t>
            </a:r>
          </a:p>
        </p:txBody>
      </p:sp>
      <p:sp>
        <p:nvSpPr>
          <p:cNvPr id="8" name="TextBox 7"/>
          <p:cNvSpPr txBox="1"/>
          <p:nvPr/>
        </p:nvSpPr>
        <p:spPr>
          <a:xfrm>
            <a:off x="1508760" y="2505456"/>
            <a:ext cx="4572000" cy="365760"/>
          </a:xfrm>
          <a:prstGeom prst="rect">
            <a:avLst/>
          </a:prstGeom>
          <a:noFill/>
        </p:spPr>
        <p:txBody>
          <a:bodyPr wrap="square" lIns="0" tIns="0" rIns="0" bIns="0" anchor="t">
            <a:spAutoFit/>
          </a:bodyPr>
          <a:lstStyle/>
          <a:p>
            <a:pPr algn="l"/>
            <a:r>
              <a:rPr sz="1700" b="0" i="0">
                <a:solidFill>
                  <a:srgbClr val="E6EDF3"/>
                </a:solidFill>
                <a:latin typeface="Calibri"/>
              </a:rPr>
              <a:t>Personal website</a:t>
            </a:r>
          </a:p>
        </p:txBody>
      </p:sp>
      <p:sp>
        <p:nvSpPr>
          <p:cNvPr id="9" name="TextBox 8"/>
          <p:cNvSpPr txBox="1"/>
          <p:nvPr/>
        </p:nvSpPr>
        <p:spPr>
          <a:xfrm>
            <a:off x="822960" y="3145535"/>
            <a:ext cx="640080" cy="365760"/>
          </a:xfrm>
          <a:prstGeom prst="rect">
            <a:avLst/>
          </a:prstGeom>
          <a:noFill/>
        </p:spPr>
        <p:txBody>
          <a:bodyPr wrap="square" lIns="0" tIns="0" rIns="0" bIns="0" anchor="t">
            <a:spAutoFit/>
          </a:bodyPr>
          <a:lstStyle/>
          <a:p>
            <a:pPr algn="l"/>
            <a:r>
              <a:rPr sz="1800" b="1" i="0">
                <a:solidFill>
                  <a:srgbClr val="2DD4BF"/>
                </a:solidFill>
                <a:latin typeface="Consolas"/>
              </a:rPr>
              <a:t>03</a:t>
            </a:r>
          </a:p>
        </p:txBody>
      </p:sp>
      <p:sp>
        <p:nvSpPr>
          <p:cNvPr id="10" name="TextBox 9"/>
          <p:cNvSpPr txBox="1"/>
          <p:nvPr/>
        </p:nvSpPr>
        <p:spPr>
          <a:xfrm>
            <a:off x="1508760" y="3163823"/>
            <a:ext cx="4572000" cy="365760"/>
          </a:xfrm>
          <a:prstGeom prst="rect">
            <a:avLst/>
          </a:prstGeom>
          <a:noFill/>
        </p:spPr>
        <p:txBody>
          <a:bodyPr wrap="square" lIns="0" tIns="0" rIns="0" bIns="0" anchor="t">
            <a:spAutoFit/>
          </a:bodyPr>
          <a:lstStyle/>
          <a:p>
            <a:pPr algn="l"/>
            <a:r>
              <a:rPr sz="1700" b="0" i="0">
                <a:solidFill>
                  <a:srgbClr val="E6EDF3"/>
                </a:solidFill>
                <a:latin typeface="Calibri"/>
              </a:rPr>
              <a:t>Course repository</a:t>
            </a:r>
          </a:p>
        </p:txBody>
      </p:sp>
      <p:sp>
        <p:nvSpPr>
          <p:cNvPr id="11" name="TextBox 10"/>
          <p:cNvSpPr txBox="1"/>
          <p:nvPr/>
        </p:nvSpPr>
        <p:spPr>
          <a:xfrm>
            <a:off x="822960" y="3803903"/>
            <a:ext cx="640080" cy="365760"/>
          </a:xfrm>
          <a:prstGeom prst="rect">
            <a:avLst/>
          </a:prstGeom>
          <a:noFill/>
        </p:spPr>
        <p:txBody>
          <a:bodyPr wrap="square" lIns="0" tIns="0" rIns="0" bIns="0" anchor="t">
            <a:spAutoFit/>
          </a:bodyPr>
          <a:lstStyle/>
          <a:p>
            <a:pPr algn="l"/>
            <a:r>
              <a:rPr sz="1800" b="1" i="0">
                <a:solidFill>
                  <a:srgbClr val="2DD4BF"/>
                </a:solidFill>
                <a:latin typeface="Consolas"/>
              </a:rPr>
              <a:t>04</a:t>
            </a:r>
          </a:p>
        </p:txBody>
      </p:sp>
      <p:sp>
        <p:nvSpPr>
          <p:cNvPr id="12" name="TextBox 11"/>
          <p:cNvSpPr txBox="1"/>
          <p:nvPr/>
        </p:nvSpPr>
        <p:spPr>
          <a:xfrm>
            <a:off x="1508760" y="3822191"/>
            <a:ext cx="4572000" cy="365760"/>
          </a:xfrm>
          <a:prstGeom prst="rect">
            <a:avLst/>
          </a:prstGeom>
          <a:noFill/>
        </p:spPr>
        <p:txBody>
          <a:bodyPr wrap="square" lIns="0" tIns="0" rIns="0" bIns="0" anchor="t">
            <a:spAutoFit/>
          </a:bodyPr>
          <a:lstStyle/>
          <a:p>
            <a:pPr algn="l"/>
            <a:r>
              <a:rPr sz="1700" b="0" i="0">
                <a:solidFill>
                  <a:srgbClr val="E6EDF3"/>
                </a:solidFill>
                <a:latin typeface="Calibri"/>
              </a:rPr>
              <a:t>Project 0 — Two Sum</a:t>
            </a:r>
          </a:p>
        </p:txBody>
      </p:sp>
      <p:sp>
        <p:nvSpPr>
          <p:cNvPr id="13" name="TextBox 12"/>
          <p:cNvSpPr txBox="1"/>
          <p:nvPr/>
        </p:nvSpPr>
        <p:spPr>
          <a:xfrm>
            <a:off x="6352622" y="1848477"/>
            <a:ext cx="640080" cy="365760"/>
          </a:xfrm>
          <a:prstGeom prst="rect">
            <a:avLst/>
          </a:prstGeom>
          <a:noFill/>
        </p:spPr>
        <p:txBody>
          <a:bodyPr wrap="square" lIns="0" tIns="0" rIns="0" bIns="0" anchor="t">
            <a:spAutoFit/>
          </a:bodyPr>
          <a:lstStyle/>
          <a:p>
            <a:pPr algn="l"/>
            <a:r>
              <a:rPr sz="1800" b="1" i="0">
                <a:solidFill>
                  <a:srgbClr val="2DD4BF"/>
                </a:solidFill>
                <a:latin typeface="Consolas"/>
              </a:rPr>
              <a:t>05</a:t>
            </a:r>
          </a:p>
        </p:txBody>
      </p:sp>
      <p:sp>
        <p:nvSpPr>
          <p:cNvPr id="14" name="TextBox 13"/>
          <p:cNvSpPr txBox="1"/>
          <p:nvPr/>
        </p:nvSpPr>
        <p:spPr>
          <a:xfrm>
            <a:off x="7132320" y="1846410"/>
            <a:ext cx="4572000" cy="365760"/>
          </a:xfrm>
          <a:prstGeom prst="rect">
            <a:avLst/>
          </a:prstGeom>
          <a:noFill/>
        </p:spPr>
        <p:txBody>
          <a:bodyPr wrap="square" lIns="0" tIns="0" rIns="0" bIns="0" anchor="t">
            <a:spAutoFit/>
          </a:bodyPr>
          <a:lstStyle/>
          <a:p>
            <a:pPr algn="l"/>
            <a:r>
              <a:rPr sz="1700" b="0" i="0">
                <a:solidFill>
                  <a:srgbClr val="E6EDF3"/>
                </a:solidFill>
                <a:latin typeface="Calibri"/>
              </a:rPr>
              <a:t>Project B — CSV Mini Database</a:t>
            </a:r>
          </a:p>
        </p:txBody>
      </p:sp>
      <p:sp>
        <p:nvSpPr>
          <p:cNvPr id="16" name="TextBox 15"/>
          <p:cNvSpPr txBox="1"/>
          <p:nvPr/>
        </p:nvSpPr>
        <p:spPr>
          <a:xfrm>
            <a:off x="7132320" y="2487168"/>
            <a:ext cx="4572000" cy="365760"/>
          </a:xfrm>
          <a:prstGeom prst="rect">
            <a:avLst/>
          </a:prstGeom>
          <a:noFill/>
        </p:spPr>
        <p:txBody>
          <a:bodyPr wrap="square" lIns="0" tIns="0" rIns="0" bIns="0" anchor="t">
            <a:spAutoFit/>
          </a:bodyPr>
          <a:lstStyle/>
          <a:p>
            <a:pPr algn="l"/>
            <a:r>
              <a:rPr sz="1700" b="0" i="0">
                <a:solidFill>
                  <a:srgbClr val="E6EDF3"/>
                </a:solidFill>
                <a:latin typeface="Calibri"/>
              </a:rPr>
              <a:t>GitHub workflow evidence</a:t>
            </a:r>
          </a:p>
        </p:txBody>
      </p:sp>
      <p:sp>
        <p:nvSpPr>
          <p:cNvPr id="17" name="TextBox 16"/>
          <p:cNvSpPr txBox="1"/>
          <p:nvPr/>
        </p:nvSpPr>
        <p:spPr>
          <a:xfrm>
            <a:off x="6352622" y="2500272"/>
            <a:ext cx="640080" cy="276999"/>
          </a:xfrm>
          <a:prstGeom prst="rect">
            <a:avLst/>
          </a:prstGeom>
          <a:noFill/>
        </p:spPr>
        <p:txBody>
          <a:bodyPr wrap="square" lIns="0" tIns="0" rIns="0" bIns="0" anchor="t">
            <a:spAutoFit/>
          </a:bodyPr>
          <a:lstStyle/>
          <a:p>
            <a:pPr algn="l"/>
            <a:r>
              <a:rPr sz="1800" b="1" i="0" dirty="0">
                <a:solidFill>
                  <a:srgbClr val="2DD4BF"/>
                </a:solidFill>
                <a:latin typeface="Consolas"/>
              </a:rPr>
              <a:t>0</a:t>
            </a:r>
            <a:r>
              <a:rPr lang="en-US" sz="1800" b="1" i="0" dirty="0">
                <a:solidFill>
                  <a:srgbClr val="2DD4BF"/>
                </a:solidFill>
                <a:latin typeface="Consolas"/>
              </a:rPr>
              <a:t>6</a:t>
            </a:r>
            <a:endParaRPr sz="1800" b="1" i="0" dirty="0">
              <a:solidFill>
                <a:srgbClr val="2DD4BF"/>
              </a:solidFill>
              <a:latin typeface="Consolas"/>
            </a:endParaRPr>
          </a:p>
        </p:txBody>
      </p:sp>
      <p:sp>
        <p:nvSpPr>
          <p:cNvPr id="18" name="TextBox 17"/>
          <p:cNvSpPr txBox="1"/>
          <p:nvPr/>
        </p:nvSpPr>
        <p:spPr>
          <a:xfrm>
            <a:off x="7132320" y="3085422"/>
            <a:ext cx="4572000" cy="365760"/>
          </a:xfrm>
          <a:prstGeom prst="rect">
            <a:avLst/>
          </a:prstGeom>
          <a:noFill/>
        </p:spPr>
        <p:txBody>
          <a:bodyPr wrap="square" lIns="0" tIns="0" rIns="0" bIns="0" anchor="t">
            <a:spAutoFit/>
          </a:bodyPr>
          <a:lstStyle/>
          <a:p>
            <a:pPr algn="l"/>
            <a:r>
              <a:rPr sz="1700" b="0" i="0" dirty="0">
                <a:solidFill>
                  <a:srgbClr val="E6EDF3"/>
                </a:solidFill>
                <a:latin typeface="Calibri"/>
              </a:rPr>
              <a:t>AI-assisted development reflection</a:t>
            </a:r>
          </a:p>
        </p:txBody>
      </p:sp>
      <p:sp>
        <p:nvSpPr>
          <p:cNvPr id="19" name="TextBox 18"/>
          <p:cNvSpPr txBox="1"/>
          <p:nvPr/>
        </p:nvSpPr>
        <p:spPr>
          <a:xfrm>
            <a:off x="6352622" y="3074816"/>
            <a:ext cx="640080" cy="276999"/>
          </a:xfrm>
          <a:prstGeom prst="rect">
            <a:avLst/>
          </a:prstGeom>
          <a:noFill/>
        </p:spPr>
        <p:txBody>
          <a:bodyPr wrap="square" lIns="0" tIns="0" rIns="0" bIns="0" anchor="t">
            <a:spAutoFit/>
          </a:bodyPr>
          <a:lstStyle/>
          <a:p>
            <a:pPr algn="l"/>
            <a:r>
              <a:rPr sz="1800" b="1" i="0" dirty="0">
                <a:solidFill>
                  <a:srgbClr val="2DD4BF"/>
                </a:solidFill>
                <a:latin typeface="Consolas"/>
              </a:rPr>
              <a:t>0</a:t>
            </a:r>
            <a:r>
              <a:rPr lang="en-US" sz="1800" b="1" i="0" dirty="0">
                <a:solidFill>
                  <a:srgbClr val="2DD4BF"/>
                </a:solidFill>
                <a:latin typeface="Consolas"/>
              </a:rPr>
              <a:t>7</a:t>
            </a:r>
            <a:endParaRPr sz="1800" b="1" i="0" dirty="0">
              <a:solidFill>
                <a:srgbClr val="2DD4BF"/>
              </a:solidFill>
              <a:latin typeface="Consolas"/>
            </a:endParaRPr>
          </a:p>
        </p:txBody>
      </p:sp>
      <p:sp>
        <p:nvSpPr>
          <p:cNvPr id="21" name="TextBox 20"/>
          <p:cNvSpPr txBox="1"/>
          <p:nvPr/>
        </p:nvSpPr>
        <p:spPr>
          <a:xfrm>
            <a:off x="6352622" y="3709784"/>
            <a:ext cx="640080" cy="276999"/>
          </a:xfrm>
          <a:prstGeom prst="rect">
            <a:avLst/>
          </a:prstGeom>
          <a:noFill/>
        </p:spPr>
        <p:txBody>
          <a:bodyPr wrap="square" lIns="0" tIns="0" rIns="0" bIns="0" anchor="t">
            <a:spAutoFit/>
          </a:bodyPr>
          <a:lstStyle/>
          <a:p>
            <a:pPr algn="l"/>
            <a:r>
              <a:rPr sz="1800" b="1" i="0" dirty="0">
                <a:solidFill>
                  <a:srgbClr val="2DD4BF"/>
                </a:solidFill>
                <a:latin typeface="Consolas"/>
              </a:rPr>
              <a:t>0</a:t>
            </a:r>
            <a:r>
              <a:rPr lang="en-US" sz="1800" b="1" i="0" dirty="0">
                <a:solidFill>
                  <a:srgbClr val="2DD4BF"/>
                </a:solidFill>
                <a:latin typeface="Consolas"/>
              </a:rPr>
              <a:t>8</a:t>
            </a:r>
            <a:endParaRPr sz="1800" b="1" i="0" dirty="0">
              <a:solidFill>
                <a:srgbClr val="2DD4BF"/>
              </a:solidFill>
              <a:latin typeface="Consolas"/>
            </a:endParaRPr>
          </a:p>
        </p:txBody>
      </p:sp>
      <p:sp>
        <p:nvSpPr>
          <p:cNvPr id="22" name="TextBox 21"/>
          <p:cNvSpPr txBox="1"/>
          <p:nvPr/>
        </p:nvSpPr>
        <p:spPr>
          <a:xfrm>
            <a:off x="7132320" y="3735324"/>
            <a:ext cx="4572000" cy="365760"/>
          </a:xfrm>
          <a:prstGeom prst="rect">
            <a:avLst/>
          </a:prstGeom>
          <a:noFill/>
        </p:spPr>
        <p:txBody>
          <a:bodyPr wrap="square" lIns="0" tIns="0" rIns="0" bIns="0" anchor="t">
            <a:spAutoFit/>
          </a:bodyPr>
          <a:lstStyle/>
          <a:p>
            <a:pPr algn="l"/>
            <a:r>
              <a:rPr sz="1700" b="0" i="0">
                <a:solidFill>
                  <a:srgbClr val="E6EDF3"/>
                </a:solidFill>
                <a:latin typeface="Calibri"/>
              </a:rPr>
              <a:t>Final reflection</a:t>
            </a:r>
          </a:p>
        </p:txBody>
      </p:sp>
      <p:sp>
        <p:nvSpPr>
          <p:cNvPr id="27" name="TextBox 26"/>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02 / 1</a:t>
            </a:r>
            <a:r>
              <a:rPr lang="en-US" sz="1000" b="0" i="0" dirty="0">
                <a:solidFill>
                  <a:srgbClr val="8B949E"/>
                </a:solidFill>
                <a:latin typeface="Consolas"/>
              </a:rPr>
              <a:t>5</a:t>
            </a:r>
            <a:endParaRPr sz="1000" b="0" i="0" dirty="0">
              <a:solidFill>
                <a:srgbClr val="8B949E"/>
              </a:solidFill>
              <a:latin typeface="Consolas"/>
            </a:endParaRPr>
          </a:p>
        </p:txBody>
      </p:sp>
      <p:sp>
        <p:nvSpPr>
          <p:cNvPr id="28" name="TextBox 27"/>
          <p:cNvSpPr txBox="1"/>
          <p:nvPr/>
        </p:nvSpPr>
        <p:spPr>
          <a:xfrm>
            <a:off x="548640" y="6473952"/>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r>
              <a:rPr sz="1200" b="1" i="0">
                <a:solidFill>
                  <a:srgbClr val="58A6FF"/>
                </a:solidFill>
                <a:latin typeface="Consolas"/>
              </a:rPr>
              <a:t>SECTION 01</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000" b="1" i="0">
                <a:solidFill>
                  <a:srgbClr val="E6EDF3"/>
                </a:solidFill>
                <a:latin typeface="Consolas"/>
              </a:rPr>
              <a:t>Semester Learning Summary</a:t>
            </a:r>
          </a:p>
        </p:txBody>
      </p:sp>
      <p:sp>
        <p:nvSpPr>
          <p:cNvPr id="5" name="TextBox 4"/>
          <p:cNvSpPr txBox="1"/>
          <p:nvPr/>
        </p:nvSpPr>
        <p:spPr>
          <a:xfrm>
            <a:off x="548640" y="1481328"/>
            <a:ext cx="5394960" cy="274320"/>
          </a:xfrm>
          <a:prstGeom prst="rect">
            <a:avLst/>
          </a:prstGeom>
          <a:noFill/>
        </p:spPr>
        <p:txBody>
          <a:bodyPr wrap="square" lIns="0" tIns="0" rIns="0" bIns="0" anchor="t">
            <a:spAutoFit/>
          </a:bodyPr>
          <a:lstStyle/>
          <a:p>
            <a:pPr algn="l"/>
            <a:r>
              <a:rPr sz="1500" b="1" i="0">
                <a:solidFill>
                  <a:srgbClr val="2DD4BF"/>
                </a:solidFill>
                <a:latin typeface="Consolas"/>
              </a:rPr>
              <a:t>What I learned</a:t>
            </a:r>
          </a:p>
        </p:txBody>
      </p:sp>
      <p:sp>
        <p:nvSpPr>
          <p:cNvPr id="6" name="TextBox 5"/>
          <p:cNvSpPr txBox="1"/>
          <p:nvPr/>
        </p:nvSpPr>
        <p:spPr>
          <a:xfrm>
            <a:off x="548640" y="1828800"/>
            <a:ext cx="5486400" cy="1033168"/>
          </a:xfrm>
          <a:prstGeom prst="rect">
            <a:avLst/>
          </a:prstGeom>
          <a:noFill/>
        </p:spPr>
        <p:txBody>
          <a:bodyPr wrap="square" lIns="0" tIns="0" rIns="0" bIns="0" anchor="t">
            <a:spAutoFit/>
          </a:bodyPr>
          <a:lstStyle/>
          <a:p>
            <a:pPr algn="l">
              <a:lnSpc>
                <a:spcPct val="106000"/>
              </a:lnSpc>
              <a:spcAft>
                <a:spcPts val="1400"/>
              </a:spcAft>
            </a:pPr>
            <a:r>
              <a:rPr sz="1400" b="1" i="0" dirty="0">
                <a:solidFill>
                  <a:srgbClr val="58A6FF"/>
                </a:solidFill>
                <a:latin typeface="Calibri"/>
              </a:rPr>
              <a:t>▸ </a:t>
            </a:r>
            <a:r>
              <a:rPr sz="1400" b="1" i="0" dirty="0">
                <a:solidFill>
                  <a:srgbClr val="E6EDF3"/>
                </a:solidFill>
                <a:latin typeface="Calibri"/>
              </a:rPr>
              <a:t>Automation: </a:t>
            </a:r>
            <a:r>
              <a:rPr sz="1400" b="0" i="0" dirty="0">
                <a:solidFill>
                  <a:srgbClr val="E6EDF3"/>
                </a:solidFill>
                <a:latin typeface="Calibri"/>
              </a:rPr>
              <a:t>GitHub Actions CI building and testing on every push</a:t>
            </a:r>
          </a:p>
          <a:p>
            <a:pPr algn="l">
              <a:lnSpc>
                <a:spcPct val="106000"/>
              </a:lnSpc>
              <a:spcAft>
                <a:spcPts val="1400"/>
              </a:spcAft>
            </a:pPr>
            <a:r>
              <a:rPr sz="1400" b="1" i="0" dirty="0">
                <a:solidFill>
                  <a:srgbClr val="58A6FF"/>
                </a:solidFill>
                <a:latin typeface="Calibri"/>
              </a:rPr>
              <a:t>▸ </a:t>
            </a:r>
            <a:r>
              <a:rPr lang="en-US" sz="1400" b="1" dirty="0">
                <a:solidFill>
                  <a:srgbClr val="E6EDF3"/>
                </a:solidFill>
                <a:latin typeface="Calibri"/>
              </a:rPr>
              <a:t>Jira: </a:t>
            </a:r>
            <a:r>
              <a:rPr lang="en-US" sz="1400" dirty="0">
                <a:solidFill>
                  <a:srgbClr val="E6EDF3"/>
                </a:solidFill>
                <a:latin typeface="Calibri"/>
              </a:rPr>
              <a:t>Tracking projects with Jira</a:t>
            </a:r>
          </a:p>
          <a:p>
            <a:pPr algn="l">
              <a:lnSpc>
                <a:spcPct val="106000"/>
              </a:lnSpc>
              <a:spcAft>
                <a:spcPts val="1400"/>
              </a:spcAft>
            </a:pPr>
            <a:r>
              <a:rPr lang="en-US" sz="1400" b="1" i="0" dirty="0">
                <a:solidFill>
                  <a:srgbClr val="58A6FF"/>
                </a:solidFill>
                <a:latin typeface="Calibri"/>
              </a:rPr>
              <a:t>▸ </a:t>
            </a:r>
            <a:r>
              <a:rPr lang="en-US" sz="1400" b="1" i="0" dirty="0">
                <a:solidFill>
                  <a:srgbClr val="E6EDF3"/>
                </a:solidFill>
                <a:latin typeface="Calibri"/>
              </a:rPr>
              <a:t>Working with AI tools </a:t>
            </a:r>
            <a:r>
              <a:rPr lang="en-US" sz="1400" b="0" i="0" dirty="0">
                <a:solidFill>
                  <a:srgbClr val="E6EDF3"/>
                </a:solidFill>
                <a:latin typeface="Calibri"/>
              </a:rPr>
              <a:t> and verifying everything they produce</a:t>
            </a:r>
          </a:p>
        </p:txBody>
      </p:sp>
      <p:sp>
        <p:nvSpPr>
          <p:cNvPr id="7" name="TextBox 6"/>
          <p:cNvSpPr txBox="1"/>
          <p:nvPr/>
        </p:nvSpPr>
        <p:spPr>
          <a:xfrm>
            <a:off x="6400800" y="1481328"/>
            <a:ext cx="5212080" cy="274320"/>
          </a:xfrm>
          <a:prstGeom prst="rect">
            <a:avLst/>
          </a:prstGeom>
          <a:noFill/>
        </p:spPr>
        <p:txBody>
          <a:bodyPr wrap="square" lIns="0" tIns="0" rIns="0" bIns="0" anchor="t">
            <a:spAutoFit/>
          </a:bodyPr>
          <a:lstStyle/>
          <a:p>
            <a:pPr algn="l"/>
            <a:r>
              <a:rPr sz="1500" b="1" i="0">
                <a:solidFill>
                  <a:srgbClr val="2DD4BF"/>
                </a:solidFill>
                <a:latin typeface="Consolas"/>
              </a:rPr>
              <a:t>Tools used this semester</a:t>
            </a:r>
          </a:p>
        </p:txBody>
      </p:sp>
      <p:sp>
        <p:nvSpPr>
          <p:cNvPr id="8" name="Rounded Rectangle 7"/>
          <p:cNvSpPr/>
          <p:nvPr/>
        </p:nvSpPr>
        <p:spPr>
          <a:xfrm>
            <a:off x="6400800" y="1847088"/>
            <a:ext cx="489204" cy="310896"/>
          </a:xfrm>
          <a:prstGeom prst="roundRect">
            <a:avLst>
              <a:gd name="adj" fmla="val 50000"/>
            </a:avLst>
          </a:prstGeom>
          <a:solidFill>
            <a:srgbClr val="1C232D"/>
          </a:solidFill>
          <a:ln w="12700">
            <a:solidFill>
              <a:srgbClr val="D29922"/>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D29922"/>
                </a:solidFill>
                <a:latin typeface="Consolas"/>
              </a:rPr>
              <a:t>Git</a:t>
            </a:r>
          </a:p>
        </p:txBody>
      </p:sp>
      <p:sp>
        <p:nvSpPr>
          <p:cNvPr id="9" name="Rounded Rectangle 8"/>
          <p:cNvSpPr/>
          <p:nvPr/>
        </p:nvSpPr>
        <p:spPr>
          <a:xfrm>
            <a:off x="7018020" y="1847088"/>
            <a:ext cx="722376" cy="310896"/>
          </a:xfrm>
          <a:prstGeom prst="roundRect">
            <a:avLst>
              <a:gd name="adj" fmla="val 50000"/>
            </a:avLst>
          </a:prstGeom>
          <a:solidFill>
            <a:srgbClr val="1C232D"/>
          </a:solidFill>
          <a:ln w="12700">
            <a:solidFill>
              <a:srgbClr val="E6EDF3"/>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E6EDF3"/>
                </a:solidFill>
                <a:latin typeface="Consolas"/>
              </a:rPr>
              <a:t>GitHub</a:t>
            </a:r>
          </a:p>
        </p:txBody>
      </p:sp>
      <p:sp>
        <p:nvSpPr>
          <p:cNvPr id="10" name="Rounded Rectangle 9"/>
          <p:cNvSpPr/>
          <p:nvPr/>
        </p:nvSpPr>
        <p:spPr>
          <a:xfrm>
            <a:off x="7868412" y="1847088"/>
            <a:ext cx="1188720" cy="310896"/>
          </a:xfrm>
          <a:prstGeom prst="roundRect">
            <a:avLst>
              <a:gd name="adj" fmla="val 50000"/>
            </a:avLst>
          </a:prstGeom>
          <a:solidFill>
            <a:srgbClr val="1C232D"/>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58A6FF"/>
                </a:solidFill>
                <a:latin typeface="Consolas"/>
              </a:rPr>
              <a:t>GitHub Pages</a:t>
            </a:r>
          </a:p>
        </p:txBody>
      </p:sp>
      <p:sp>
        <p:nvSpPr>
          <p:cNvPr id="11" name="Rounded Rectangle 10"/>
          <p:cNvSpPr/>
          <p:nvPr/>
        </p:nvSpPr>
        <p:spPr>
          <a:xfrm>
            <a:off x="9185148" y="1847088"/>
            <a:ext cx="1344168" cy="310896"/>
          </a:xfrm>
          <a:prstGeom prst="roundRect">
            <a:avLst>
              <a:gd name="adj" fmla="val 50000"/>
            </a:avLst>
          </a:prstGeom>
          <a:solidFill>
            <a:srgbClr val="1C232D"/>
          </a:solidFill>
          <a:ln w="12700">
            <a:solidFill>
              <a:srgbClr val="3FB950"/>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3FB950"/>
                </a:solidFill>
                <a:latin typeface="Consolas"/>
              </a:rPr>
              <a:t>GitHub Actions</a:t>
            </a:r>
          </a:p>
        </p:txBody>
      </p:sp>
      <p:sp>
        <p:nvSpPr>
          <p:cNvPr id="12" name="Rounded Rectangle 11"/>
          <p:cNvSpPr/>
          <p:nvPr/>
        </p:nvSpPr>
        <p:spPr>
          <a:xfrm>
            <a:off x="10657332" y="1847088"/>
            <a:ext cx="800100" cy="310896"/>
          </a:xfrm>
          <a:prstGeom prst="roundRect">
            <a:avLst>
              <a:gd name="adj" fmla="val 50000"/>
            </a:avLst>
          </a:prstGeom>
          <a:solidFill>
            <a:srgbClr val="1C232D"/>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58A6FF"/>
                </a:solidFill>
                <a:latin typeface="Consolas"/>
              </a:rPr>
              <a:t>VS Code</a:t>
            </a:r>
          </a:p>
        </p:txBody>
      </p:sp>
      <p:sp>
        <p:nvSpPr>
          <p:cNvPr id="13" name="Rounded Rectangle 12"/>
          <p:cNvSpPr/>
          <p:nvPr/>
        </p:nvSpPr>
        <p:spPr>
          <a:xfrm>
            <a:off x="7941515" y="2276856"/>
            <a:ext cx="877824" cy="310896"/>
          </a:xfrm>
          <a:prstGeom prst="roundRect">
            <a:avLst>
              <a:gd name="adj" fmla="val 50000"/>
            </a:avLst>
          </a:prstGeom>
          <a:solidFill>
            <a:srgbClr val="1C232D"/>
          </a:solidFill>
          <a:ln w="12700">
            <a:solidFill>
              <a:srgbClr val="E6EDF3"/>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E6EDF3"/>
                </a:solidFill>
                <a:latin typeface="Consolas"/>
              </a:rPr>
              <a:t>Markdown</a:t>
            </a:r>
          </a:p>
        </p:txBody>
      </p:sp>
      <p:sp>
        <p:nvSpPr>
          <p:cNvPr id="14" name="Rounded Rectangle 13"/>
          <p:cNvSpPr/>
          <p:nvPr/>
        </p:nvSpPr>
        <p:spPr>
          <a:xfrm>
            <a:off x="8929485" y="2249424"/>
            <a:ext cx="1110996" cy="310896"/>
          </a:xfrm>
          <a:prstGeom prst="roundRect">
            <a:avLst>
              <a:gd name="adj" fmla="val 50000"/>
            </a:avLst>
          </a:prstGeom>
          <a:solidFill>
            <a:srgbClr val="1C232D"/>
          </a:solidFill>
          <a:ln w="12700">
            <a:solidFill>
              <a:srgbClr val="BC8CFF"/>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BC8CFF"/>
                </a:solidFill>
                <a:latin typeface="Consolas"/>
              </a:rPr>
              <a:t>C++17 / g++</a:t>
            </a:r>
          </a:p>
        </p:txBody>
      </p:sp>
      <p:sp>
        <p:nvSpPr>
          <p:cNvPr id="16" name="Rounded Rectangle 15"/>
          <p:cNvSpPr/>
          <p:nvPr/>
        </p:nvSpPr>
        <p:spPr>
          <a:xfrm>
            <a:off x="10150627" y="2233496"/>
            <a:ext cx="1421892" cy="310896"/>
          </a:xfrm>
          <a:prstGeom prst="roundRect">
            <a:avLst>
              <a:gd name="adj" fmla="val 50000"/>
            </a:avLst>
          </a:prstGeom>
          <a:solidFill>
            <a:srgbClr val="1C232D"/>
          </a:solidFill>
          <a:ln w="12700">
            <a:solidFill>
              <a:srgbClr val="D29922"/>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dirty="0">
                <a:solidFill>
                  <a:srgbClr val="D29922"/>
                </a:solidFill>
                <a:latin typeface="Consolas"/>
              </a:rPr>
              <a:t>HTML / CSS / JS</a:t>
            </a:r>
          </a:p>
        </p:txBody>
      </p:sp>
      <p:sp>
        <p:nvSpPr>
          <p:cNvPr id="17" name="Rounded Rectangle 16"/>
          <p:cNvSpPr/>
          <p:nvPr/>
        </p:nvSpPr>
        <p:spPr>
          <a:xfrm>
            <a:off x="6473952" y="2276856"/>
            <a:ext cx="1266444" cy="310896"/>
          </a:xfrm>
          <a:prstGeom prst="roundRect">
            <a:avLst>
              <a:gd name="adj" fmla="val 50000"/>
            </a:avLst>
          </a:prstGeom>
          <a:solidFill>
            <a:srgbClr val="1C232D"/>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2DD4BF"/>
                </a:solidFill>
                <a:latin typeface="Consolas"/>
              </a:rPr>
              <a:t>AI assistants</a:t>
            </a:r>
          </a:p>
        </p:txBody>
      </p:sp>
      <p:sp>
        <p:nvSpPr>
          <p:cNvPr id="18" name="Rounded Rectangle 17"/>
          <p:cNvSpPr/>
          <p:nvPr/>
        </p:nvSpPr>
        <p:spPr>
          <a:xfrm>
            <a:off x="3476244" y="3591527"/>
            <a:ext cx="5239512" cy="2286000"/>
          </a:xfrm>
          <a:prstGeom prst="roundRect">
            <a:avLst>
              <a:gd name="adj" fmla="val 6000"/>
            </a:avLst>
          </a:prstGeom>
          <a:solidFill>
            <a:srgbClr val="161B22"/>
          </a:solidFill>
          <a:ln w="1524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704844" y="3801839"/>
            <a:ext cx="4754880" cy="274320"/>
          </a:xfrm>
          <a:prstGeom prst="rect">
            <a:avLst/>
          </a:prstGeom>
          <a:noFill/>
        </p:spPr>
        <p:txBody>
          <a:bodyPr wrap="square" lIns="0" tIns="0" rIns="0" bIns="0" anchor="t">
            <a:spAutoFit/>
          </a:bodyPr>
          <a:lstStyle/>
          <a:p>
            <a:pPr algn="l"/>
            <a:r>
              <a:rPr sz="1400" b="1" i="0">
                <a:solidFill>
                  <a:srgbClr val="2DD4BF"/>
                </a:solidFill>
                <a:latin typeface="Consolas"/>
              </a:rPr>
              <a:t>Most important growth</a:t>
            </a:r>
          </a:p>
        </p:txBody>
      </p:sp>
      <p:sp>
        <p:nvSpPr>
          <p:cNvPr id="20" name="TextBox 19"/>
          <p:cNvSpPr txBox="1"/>
          <p:nvPr/>
        </p:nvSpPr>
        <p:spPr>
          <a:xfrm>
            <a:off x="3717036" y="4517679"/>
            <a:ext cx="4800600" cy="918328"/>
          </a:xfrm>
          <a:prstGeom prst="rect">
            <a:avLst/>
          </a:prstGeom>
          <a:noFill/>
        </p:spPr>
        <p:txBody>
          <a:bodyPr wrap="square" lIns="0" tIns="0" rIns="0" bIns="0" anchor="t">
            <a:spAutoFit/>
          </a:bodyPr>
          <a:lstStyle/>
          <a:p>
            <a:pPr algn="l">
              <a:lnSpc>
                <a:spcPct val="112000"/>
              </a:lnSpc>
            </a:pPr>
            <a:r>
              <a:rPr lang="en-US" sz="1350" b="1" i="0" dirty="0">
                <a:solidFill>
                  <a:schemeClr val="bg1"/>
                </a:solidFill>
                <a:latin typeface="Calibri"/>
              </a:rPr>
              <a:t>Tracking my projects and the workflow for a more organized setting, learning how to use </a:t>
            </a:r>
            <a:r>
              <a:rPr lang="en-US" sz="1350" b="1" i="0" dirty="0" err="1">
                <a:solidFill>
                  <a:schemeClr val="bg1"/>
                </a:solidFill>
                <a:latin typeface="Calibri"/>
              </a:rPr>
              <a:t>Github</a:t>
            </a:r>
            <a:r>
              <a:rPr lang="en-US" sz="1350" b="1" i="0" dirty="0">
                <a:solidFill>
                  <a:schemeClr val="bg1"/>
                </a:solidFill>
                <a:latin typeface="Calibri"/>
              </a:rPr>
              <a:t> actions and other features to the best alongside the assistance of AI for a more optimized development .</a:t>
            </a:r>
            <a:endParaRPr sz="1350" b="0" i="0" dirty="0">
              <a:solidFill>
                <a:schemeClr val="bg1"/>
              </a:solidFill>
              <a:latin typeface="Calibri"/>
            </a:endParaRPr>
          </a:p>
        </p:txBody>
      </p:sp>
      <p:sp>
        <p:nvSpPr>
          <p:cNvPr id="21" name="TextBox 20"/>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03 / 1</a:t>
            </a:r>
            <a:r>
              <a:rPr lang="en-US" sz="1000" b="0" i="0" dirty="0">
                <a:solidFill>
                  <a:srgbClr val="8B949E"/>
                </a:solidFill>
                <a:latin typeface="Consolas"/>
              </a:rPr>
              <a:t>5</a:t>
            </a:r>
            <a:endParaRPr sz="1000" b="0" i="0" dirty="0">
              <a:solidFill>
                <a:srgbClr val="8B949E"/>
              </a:solidFill>
              <a:latin typeface="Consolas"/>
            </a:endParaRPr>
          </a:p>
        </p:txBody>
      </p:sp>
      <p:sp>
        <p:nvSpPr>
          <p:cNvPr id="22" name="TextBox 21"/>
          <p:cNvSpPr txBox="1"/>
          <p:nvPr/>
        </p:nvSpPr>
        <p:spPr>
          <a:xfrm>
            <a:off x="548640" y="6473952"/>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r>
              <a:rPr sz="1200" b="1" i="0">
                <a:solidFill>
                  <a:srgbClr val="58A6FF"/>
                </a:solidFill>
                <a:latin typeface="Consolas"/>
              </a:rPr>
              <a:t>SECTION 02</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000" b="1" i="0">
                <a:solidFill>
                  <a:srgbClr val="E6EDF3"/>
                </a:solidFill>
                <a:latin typeface="Consolas"/>
              </a:rPr>
              <a:t>Personal Website</a:t>
            </a:r>
          </a:p>
        </p:txBody>
      </p:sp>
      <p:sp>
        <p:nvSpPr>
          <p:cNvPr id="5" name="TextBox 4"/>
          <p:cNvSpPr txBox="1"/>
          <p:nvPr/>
        </p:nvSpPr>
        <p:spPr>
          <a:xfrm>
            <a:off x="548640" y="1389888"/>
            <a:ext cx="5852160" cy="169277"/>
          </a:xfrm>
          <a:prstGeom prst="rect">
            <a:avLst/>
          </a:prstGeom>
          <a:noFill/>
        </p:spPr>
        <p:txBody>
          <a:bodyPr wrap="square" lIns="0" tIns="0" rIns="0" bIns="0" anchor="t">
            <a:spAutoFit/>
          </a:bodyPr>
          <a:lstStyle/>
          <a:p>
            <a:pPr algn="l"/>
            <a:r>
              <a:rPr sz="1100" b="0" i="0" dirty="0">
                <a:solidFill>
                  <a:srgbClr val="58A6FF"/>
                </a:solidFill>
                <a:latin typeface="Consolas"/>
              </a:rPr>
              <a:t>URL: </a:t>
            </a:r>
            <a:r>
              <a:rPr sz="1100" b="0" i="0" dirty="0">
                <a:solidFill>
                  <a:srgbClr val="58A6FF"/>
                </a:solidFill>
                <a:latin typeface="Consolas"/>
                <a:hlinkClick r:id="rId3"/>
              </a:rPr>
              <a:t>https://max-shen378.github.io</a:t>
            </a:r>
            <a:endParaRPr sz="1100" b="0" i="0" dirty="0">
              <a:solidFill>
                <a:srgbClr val="58A6FF"/>
              </a:solidFill>
              <a:latin typeface="Consolas"/>
            </a:endParaRPr>
          </a:p>
        </p:txBody>
      </p:sp>
      <p:sp>
        <p:nvSpPr>
          <p:cNvPr id="8" name="TextBox 7"/>
          <p:cNvSpPr txBox="1"/>
          <p:nvPr/>
        </p:nvSpPr>
        <p:spPr>
          <a:xfrm>
            <a:off x="6629400" y="1554480"/>
            <a:ext cx="4937760" cy="274320"/>
          </a:xfrm>
          <a:prstGeom prst="rect">
            <a:avLst/>
          </a:prstGeom>
          <a:noFill/>
        </p:spPr>
        <p:txBody>
          <a:bodyPr wrap="square" lIns="0" tIns="0" rIns="0" bIns="0" anchor="t">
            <a:spAutoFit/>
          </a:bodyPr>
          <a:lstStyle/>
          <a:p>
            <a:pPr algn="l"/>
            <a:r>
              <a:rPr sz="1400" b="1" i="0">
                <a:solidFill>
                  <a:srgbClr val="2DD4BF"/>
                </a:solidFill>
                <a:latin typeface="Consolas"/>
              </a:rPr>
              <a:t>Technologies</a:t>
            </a:r>
          </a:p>
        </p:txBody>
      </p:sp>
      <p:sp>
        <p:nvSpPr>
          <p:cNvPr id="9" name="Rounded Rectangle 8"/>
          <p:cNvSpPr/>
          <p:nvPr/>
        </p:nvSpPr>
        <p:spPr>
          <a:xfrm>
            <a:off x="6629400" y="1883664"/>
            <a:ext cx="644652" cy="310896"/>
          </a:xfrm>
          <a:prstGeom prst="roundRect">
            <a:avLst>
              <a:gd name="adj" fmla="val 50000"/>
            </a:avLst>
          </a:prstGeom>
          <a:solidFill>
            <a:srgbClr val="1C232D"/>
          </a:solidFill>
          <a:ln w="12700">
            <a:solidFill>
              <a:srgbClr val="D29922"/>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D29922"/>
                </a:solidFill>
                <a:latin typeface="Consolas"/>
              </a:rPr>
              <a:t>HTML5</a:t>
            </a:r>
          </a:p>
        </p:txBody>
      </p:sp>
      <p:sp>
        <p:nvSpPr>
          <p:cNvPr id="10" name="Rounded Rectangle 9"/>
          <p:cNvSpPr/>
          <p:nvPr/>
        </p:nvSpPr>
        <p:spPr>
          <a:xfrm>
            <a:off x="7402068" y="1883664"/>
            <a:ext cx="566928" cy="310896"/>
          </a:xfrm>
          <a:prstGeom prst="roundRect">
            <a:avLst>
              <a:gd name="adj" fmla="val 50000"/>
            </a:avLst>
          </a:prstGeom>
          <a:solidFill>
            <a:srgbClr val="1C232D"/>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58A6FF"/>
                </a:solidFill>
                <a:latin typeface="Consolas"/>
              </a:rPr>
              <a:t>CSS3</a:t>
            </a:r>
          </a:p>
        </p:txBody>
      </p:sp>
      <p:sp>
        <p:nvSpPr>
          <p:cNvPr id="11" name="Rounded Rectangle 10"/>
          <p:cNvSpPr/>
          <p:nvPr/>
        </p:nvSpPr>
        <p:spPr>
          <a:xfrm>
            <a:off x="8097012" y="1883664"/>
            <a:ext cx="1033272" cy="310896"/>
          </a:xfrm>
          <a:prstGeom prst="roundRect">
            <a:avLst>
              <a:gd name="adj" fmla="val 50000"/>
            </a:avLst>
          </a:prstGeom>
          <a:solidFill>
            <a:srgbClr val="1C232D"/>
          </a:solidFill>
          <a:ln w="12700">
            <a:solidFill>
              <a:srgbClr val="D29922"/>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D29922"/>
                </a:solidFill>
                <a:latin typeface="Consolas"/>
              </a:rPr>
              <a:t>vanilla JS</a:t>
            </a:r>
          </a:p>
        </p:txBody>
      </p:sp>
      <p:sp>
        <p:nvSpPr>
          <p:cNvPr id="12" name="Rounded Rectangle 11"/>
          <p:cNvSpPr/>
          <p:nvPr/>
        </p:nvSpPr>
        <p:spPr>
          <a:xfrm>
            <a:off x="9258300" y="1883664"/>
            <a:ext cx="1188720" cy="310896"/>
          </a:xfrm>
          <a:prstGeom prst="roundRect">
            <a:avLst>
              <a:gd name="adj" fmla="val 50000"/>
            </a:avLst>
          </a:prstGeom>
          <a:solidFill>
            <a:srgbClr val="1C232D"/>
          </a:solidFill>
          <a:ln w="12700">
            <a:solidFill>
              <a:srgbClr val="3FB950"/>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3FB950"/>
                </a:solidFill>
                <a:latin typeface="Consolas"/>
              </a:rPr>
              <a:t>GitHub Pages</a:t>
            </a:r>
          </a:p>
        </p:txBody>
      </p:sp>
      <p:sp>
        <p:nvSpPr>
          <p:cNvPr id="13" name="Rounded Rectangle 12"/>
          <p:cNvSpPr/>
          <p:nvPr/>
        </p:nvSpPr>
        <p:spPr>
          <a:xfrm>
            <a:off x="6629400" y="2304288"/>
            <a:ext cx="1266444" cy="310896"/>
          </a:xfrm>
          <a:prstGeom prst="roundRect">
            <a:avLst>
              <a:gd name="adj" fmla="val 50000"/>
            </a:avLst>
          </a:prstGeom>
          <a:solidFill>
            <a:srgbClr val="1C232D"/>
          </a:solidFill>
          <a:ln w="12700">
            <a:solidFill>
              <a:srgbClr val="8B949E"/>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8B949E"/>
                </a:solidFill>
                <a:latin typeface="Consolas"/>
              </a:rPr>
              <a:t>no frameworks</a:t>
            </a:r>
          </a:p>
        </p:txBody>
      </p:sp>
      <p:sp>
        <p:nvSpPr>
          <p:cNvPr id="14" name="TextBox 13"/>
          <p:cNvSpPr txBox="1"/>
          <p:nvPr/>
        </p:nvSpPr>
        <p:spPr>
          <a:xfrm>
            <a:off x="6629400" y="2743200"/>
            <a:ext cx="4937760" cy="274320"/>
          </a:xfrm>
          <a:prstGeom prst="rect">
            <a:avLst/>
          </a:prstGeom>
          <a:noFill/>
        </p:spPr>
        <p:txBody>
          <a:bodyPr wrap="square" lIns="0" tIns="0" rIns="0" bIns="0" anchor="t">
            <a:spAutoFit/>
          </a:bodyPr>
          <a:lstStyle/>
          <a:p>
            <a:pPr algn="l"/>
            <a:r>
              <a:rPr sz="1400" b="1" i="0">
                <a:solidFill>
                  <a:srgbClr val="2DD4BF"/>
                </a:solidFill>
                <a:latin typeface="Consolas"/>
              </a:rPr>
              <a:t>Design concept</a:t>
            </a:r>
          </a:p>
        </p:txBody>
      </p:sp>
      <p:sp>
        <p:nvSpPr>
          <p:cNvPr id="15" name="TextBox 14"/>
          <p:cNvSpPr txBox="1"/>
          <p:nvPr/>
        </p:nvSpPr>
        <p:spPr>
          <a:xfrm>
            <a:off x="6629400" y="3072384"/>
            <a:ext cx="4983480" cy="998030"/>
          </a:xfrm>
          <a:prstGeom prst="rect">
            <a:avLst/>
          </a:prstGeom>
          <a:noFill/>
        </p:spPr>
        <p:txBody>
          <a:bodyPr wrap="square" lIns="0" tIns="0" rIns="0" bIns="0" anchor="t">
            <a:spAutoFit/>
          </a:bodyPr>
          <a:lstStyle/>
          <a:p>
            <a:pPr algn="l">
              <a:lnSpc>
                <a:spcPct val="106000"/>
              </a:lnSpc>
              <a:spcAft>
                <a:spcPts val="500"/>
              </a:spcAft>
            </a:pPr>
            <a:r>
              <a:rPr sz="1250" b="1" i="0" dirty="0">
                <a:solidFill>
                  <a:srgbClr val="58A6FF"/>
                </a:solidFill>
                <a:latin typeface="Calibri"/>
              </a:rPr>
              <a:t>▸ </a:t>
            </a:r>
            <a:r>
              <a:rPr sz="1250" b="0" i="0" dirty="0">
                <a:solidFill>
                  <a:srgbClr val="E6EDF3"/>
                </a:solidFill>
                <a:latin typeface="Calibri"/>
              </a:rPr>
              <a:t>Dark portfolio theme, Inter typeface</a:t>
            </a:r>
          </a:p>
          <a:p>
            <a:pPr algn="l">
              <a:lnSpc>
                <a:spcPct val="106000"/>
              </a:lnSpc>
              <a:spcAft>
                <a:spcPts val="500"/>
              </a:spcAft>
            </a:pPr>
            <a:r>
              <a:rPr sz="1250" b="1" i="0" dirty="0">
                <a:solidFill>
                  <a:srgbClr val="58A6FF"/>
                </a:solidFill>
                <a:latin typeface="Calibri"/>
              </a:rPr>
              <a:t>▸ </a:t>
            </a:r>
            <a:r>
              <a:rPr sz="1250" b="0" i="0" dirty="0">
                <a:solidFill>
                  <a:srgbClr val="E6EDF3"/>
                </a:solidFill>
                <a:latin typeface="Calibri"/>
              </a:rPr>
              <a:t>Pill navigation, h</a:t>
            </a:r>
            <a:r>
              <a:rPr lang="en-US" sz="1250" b="0" i="0" dirty="0">
                <a:solidFill>
                  <a:srgbClr val="E6EDF3"/>
                </a:solidFill>
                <a:latin typeface="Calibri"/>
              </a:rPr>
              <a:t>ome</a:t>
            </a:r>
            <a:r>
              <a:rPr sz="1250" b="0" i="0" dirty="0">
                <a:solidFill>
                  <a:srgbClr val="E6EDF3"/>
                </a:solidFill>
                <a:latin typeface="Calibri"/>
              </a:rPr>
              <a:t>, About / Work / Skills / Repos</a:t>
            </a:r>
          </a:p>
          <a:p>
            <a:pPr algn="l">
              <a:lnSpc>
                <a:spcPct val="106000"/>
              </a:lnSpc>
              <a:spcAft>
                <a:spcPts val="500"/>
              </a:spcAft>
            </a:pPr>
            <a:r>
              <a:rPr sz="1250" b="1" i="0" dirty="0">
                <a:solidFill>
                  <a:srgbClr val="58A6FF"/>
                </a:solidFill>
                <a:latin typeface="Calibri"/>
              </a:rPr>
              <a:t>▸ </a:t>
            </a:r>
            <a:r>
              <a:rPr sz="1250" b="0" i="0" dirty="0">
                <a:solidFill>
                  <a:srgbClr val="E6EDF3"/>
                </a:solidFill>
                <a:latin typeface="Calibri"/>
              </a:rPr>
              <a:t>Scroll-reveal animations </a:t>
            </a:r>
            <a:endParaRPr lang="en-US" sz="1250" dirty="0">
              <a:solidFill>
                <a:srgbClr val="E6EDF3"/>
              </a:solidFill>
              <a:latin typeface="Calibri"/>
            </a:endParaRPr>
          </a:p>
          <a:p>
            <a:pPr algn="l">
              <a:lnSpc>
                <a:spcPct val="106000"/>
              </a:lnSpc>
              <a:spcAft>
                <a:spcPts val="500"/>
              </a:spcAft>
            </a:pPr>
            <a:r>
              <a:rPr sz="1250" b="1" i="0" dirty="0">
                <a:solidFill>
                  <a:srgbClr val="58A6FF"/>
                </a:solidFill>
                <a:latin typeface="Calibri"/>
              </a:rPr>
              <a:t>▸ </a:t>
            </a:r>
            <a:r>
              <a:rPr sz="1250" b="0" i="0" dirty="0">
                <a:solidFill>
                  <a:srgbClr val="E6EDF3"/>
                </a:solidFill>
                <a:latin typeface="Calibri"/>
              </a:rPr>
              <a:t>Live clock in the top bar</a:t>
            </a:r>
          </a:p>
        </p:txBody>
      </p:sp>
      <p:sp>
        <p:nvSpPr>
          <p:cNvPr id="16" name="TextBox 15"/>
          <p:cNvSpPr txBox="1"/>
          <p:nvPr/>
        </p:nvSpPr>
        <p:spPr>
          <a:xfrm>
            <a:off x="6629400" y="4526280"/>
            <a:ext cx="4937760" cy="274320"/>
          </a:xfrm>
          <a:prstGeom prst="rect">
            <a:avLst/>
          </a:prstGeom>
          <a:noFill/>
        </p:spPr>
        <p:txBody>
          <a:bodyPr wrap="square" lIns="0" tIns="0" rIns="0" bIns="0" anchor="t">
            <a:spAutoFit/>
          </a:bodyPr>
          <a:lstStyle/>
          <a:p>
            <a:pPr algn="l"/>
            <a:r>
              <a:rPr sz="1400" b="1" i="0">
                <a:solidFill>
                  <a:srgbClr val="2DD4BF"/>
                </a:solidFill>
                <a:latin typeface="Consolas"/>
              </a:rPr>
              <a:t>Personal thoughts</a:t>
            </a:r>
          </a:p>
        </p:txBody>
      </p:sp>
      <p:sp>
        <p:nvSpPr>
          <p:cNvPr id="17" name="TextBox 16"/>
          <p:cNvSpPr txBox="1"/>
          <p:nvPr/>
        </p:nvSpPr>
        <p:spPr>
          <a:xfrm>
            <a:off x="6629400" y="4855464"/>
            <a:ext cx="4983480" cy="461986"/>
          </a:xfrm>
          <a:prstGeom prst="rect">
            <a:avLst/>
          </a:prstGeom>
          <a:noFill/>
        </p:spPr>
        <p:txBody>
          <a:bodyPr wrap="square" lIns="0" tIns="0" rIns="0" bIns="0" anchor="t">
            <a:spAutoFit/>
          </a:bodyPr>
          <a:lstStyle/>
          <a:p>
            <a:pPr algn="l">
              <a:lnSpc>
                <a:spcPct val="106000"/>
              </a:lnSpc>
              <a:spcAft>
                <a:spcPts val="500"/>
              </a:spcAft>
            </a:pPr>
            <a:r>
              <a:rPr sz="1250" b="1" i="0" dirty="0">
                <a:solidFill>
                  <a:srgbClr val="3FB950"/>
                </a:solidFill>
                <a:latin typeface="Calibri"/>
              </a:rPr>
              <a:t>▸ </a:t>
            </a:r>
            <a:r>
              <a:rPr sz="1250" b="0" i="0" dirty="0">
                <a:solidFill>
                  <a:srgbClr val="E6EDF3"/>
                </a:solidFill>
                <a:latin typeface="Calibri"/>
              </a:rPr>
              <a:t>Separating style.css / main.js made changes safer</a:t>
            </a:r>
          </a:p>
          <a:p>
            <a:pPr algn="l">
              <a:lnSpc>
                <a:spcPct val="106000"/>
              </a:lnSpc>
              <a:spcAft>
                <a:spcPts val="500"/>
              </a:spcAft>
            </a:pPr>
            <a:r>
              <a:rPr sz="1250" b="1" i="0" dirty="0">
                <a:solidFill>
                  <a:srgbClr val="3FB950"/>
                </a:solidFill>
                <a:latin typeface="Calibri"/>
              </a:rPr>
              <a:t>▸ </a:t>
            </a:r>
            <a:r>
              <a:rPr sz="1250" b="0" i="0" dirty="0">
                <a:solidFill>
                  <a:srgbClr val="E6EDF3"/>
                </a:solidFill>
                <a:latin typeface="Calibri"/>
              </a:rPr>
              <a:t>The site is itself Git practice: every tweak is a commit</a:t>
            </a:r>
          </a:p>
        </p:txBody>
      </p:sp>
      <p:sp>
        <p:nvSpPr>
          <p:cNvPr id="18" name="TextBox 17"/>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04 / 1</a:t>
            </a:r>
            <a:r>
              <a:rPr lang="en-US" sz="1000" b="0" i="0" dirty="0">
                <a:solidFill>
                  <a:srgbClr val="8B949E"/>
                </a:solidFill>
                <a:latin typeface="Consolas"/>
              </a:rPr>
              <a:t>5</a:t>
            </a:r>
            <a:endParaRPr sz="1000" b="0" i="0" dirty="0">
              <a:solidFill>
                <a:srgbClr val="8B949E"/>
              </a:solidFill>
              <a:latin typeface="Consolas"/>
            </a:endParaRPr>
          </a:p>
        </p:txBody>
      </p:sp>
      <p:sp>
        <p:nvSpPr>
          <p:cNvPr id="19" name="TextBox 18"/>
          <p:cNvSpPr txBox="1"/>
          <p:nvPr/>
        </p:nvSpPr>
        <p:spPr>
          <a:xfrm>
            <a:off x="548640" y="6473952"/>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pic>
        <p:nvPicPr>
          <p:cNvPr id="21" name="Picture 20">
            <a:extLst>
              <a:ext uri="{FF2B5EF4-FFF2-40B4-BE49-F238E27FC236}">
                <a16:creationId xmlns:a16="http://schemas.microsoft.com/office/drawing/2014/main" id="{58F4FBB3-3000-2F95-BA58-4B12EA8EF987}"/>
              </a:ext>
            </a:extLst>
          </p:cNvPr>
          <p:cNvPicPr>
            <a:picLocks noChangeAspect="1"/>
          </p:cNvPicPr>
          <p:nvPr/>
        </p:nvPicPr>
        <p:blipFill>
          <a:blip r:embed="rId4"/>
          <a:stretch>
            <a:fillRect/>
          </a:stretch>
        </p:blipFill>
        <p:spPr>
          <a:xfrm>
            <a:off x="548640" y="1742816"/>
            <a:ext cx="4624185" cy="2384815"/>
          </a:xfrm>
          <a:prstGeom prst="rect">
            <a:avLst/>
          </a:prstGeom>
        </p:spPr>
      </p:pic>
      <p:pic>
        <p:nvPicPr>
          <p:cNvPr id="23" name="Picture 22">
            <a:extLst>
              <a:ext uri="{FF2B5EF4-FFF2-40B4-BE49-F238E27FC236}">
                <a16:creationId xmlns:a16="http://schemas.microsoft.com/office/drawing/2014/main" id="{DF26E71E-A441-A0E2-21AB-9E4D54B75E96}"/>
              </a:ext>
            </a:extLst>
          </p:cNvPr>
          <p:cNvPicPr>
            <a:picLocks noChangeAspect="1"/>
          </p:cNvPicPr>
          <p:nvPr/>
        </p:nvPicPr>
        <p:blipFill>
          <a:blip r:embed="rId5"/>
          <a:stretch>
            <a:fillRect/>
          </a:stretch>
        </p:blipFill>
        <p:spPr>
          <a:xfrm>
            <a:off x="2302185" y="3571399"/>
            <a:ext cx="3985261" cy="266711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dirty="0">
              <a:solidFill>
                <a:srgbClr val="58A6FF"/>
              </a:solidFill>
              <a:latin typeface="Consolas"/>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r>
              <a:rPr sz="1200" b="1" i="0">
                <a:solidFill>
                  <a:srgbClr val="58A6FF"/>
                </a:solidFill>
                <a:latin typeface="Consolas"/>
              </a:rPr>
              <a:t>SECTION 03</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000" b="1" i="0">
                <a:solidFill>
                  <a:srgbClr val="E6EDF3"/>
                </a:solidFill>
                <a:latin typeface="Consolas"/>
              </a:rPr>
              <a:t>Course Repository</a:t>
            </a:r>
          </a:p>
        </p:txBody>
      </p:sp>
      <p:sp>
        <p:nvSpPr>
          <p:cNvPr id="7" name="TextBox 6"/>
          <p:cNvSpPr txBox="1"/>
          <p:nvPr/>
        </p:nvSpPr>
        <p:spPr>
          <a:xfrm>
            <a:off x="6355080" y="1554480"/>
            <a:ext cx="5212080" cy="274320"/>
          </a:xfrm>
          <a:prstGeom prst="rect">
            <a:avLst/>
          </a:prstGeom>
          <a:noFill/>
        </p:spPr>
        <p:txBody>
          <a:bodyPr wrap="square" lIns="0" tIns="0" rIns="0" bIns="0" anchor="t">
            <a:spAutoFit/>
          </a:bodyPr>
          <a:lstStyle/>
          <a:p>
            <a:pPr algn="l"/>
            <a:r>
              <a:rPr sz="1400" b="1" i="0" dirty="0">
                <a:solidFill>
                  <a:srgbClr val="2DD4BF"/>
                </a:solidFill>
                <a:latin typeface="Consolas"/>
              </a:rPr>
              <a:t>Learning progress &amp; accomplishments</a:t>
            </a:r>
          </a:p>
        </p:txBody>
      </p:sp>
      <p:sp>
        <p:nvSpPr>
          <p:cNvPr id="8" name="TextBox 7"/>
          <p:cNvSpPr txBox="1"/>
          <p:nvPr/>
        </p:nvSpPr>
        <p:spPr>
          <a:xfrm>
            <a:off x="6355080" y="1883664"/>
            <a:ext cx="5257800" cy="1017458"/>
          </a:xfrm>
          <a:prstGeom prst="rect">
            <a:avLst/>
          </a:prstGeom>
          <a:noFill/>
        </p:spPr>
        <p:txBody>
          <a:bodyPr wrap="square" lIns="0" tIns="0" rIns="0" bIns="0" anchor="t">
            <a:spAutoFit/>
          </a:bodyPr>
          <a:lstStyle/>
          <a:p>
            <a:pPr algn="l">
              <a:lnSpc>
                <a:spcPct val="106000"/>
              </a:lnSpc>
              <a:spcAft>
                <a:spcPts val="700"/>
              </a:spcAft>
            </a:pPr>
            <a:r>
              <a:rPr sz="1300" b="1" i="0" dirty="0">
                <a:solidFill>
                  <a:srgbClr val="58A6FF"/>
                </a:solidFill>
                <a:latin typeface="Calibri"/>
              </a:rPr>
              <a:t>▸ </a:t>
            </a:r>
            <a:r>
              <a:rPr sz="1300" b="1" i="0" dirty="0">
                <a:solidFill>
                  <a:srgbClr val="E6EDF3"/>
                </a:solidFill>
                <a:latin typeface="Calibri"/>
              </a:rPr>
              <a:t>Assignment</a:t>
            </a:r>
            <a:r>
              <a:rPr lang="en-US" sz="1300" b="1" i="0" dirty="0">
                <a:solidFill>
                  <a:srgbClr val="E6EDF3"/>
                </a:solidFill>
                <a:latin typeface="Calibri"/>
              </a:rPr>
              <a:t>s</a:t>
            </a:r>
            <a:r>
              <a:rPr sz="1300" b="1" i="0" dirty="0">
                <a:solidFill>
                  <a:srgbClr val="E6EDF3"/>
                </a:solidFill>
                <a:latin typeface="Calibri"/>
              </a:rPr>
              <a:t> </a:t>
            </a:r>
            <a:r>
              <a:rPr sz="1300" b="0" i="0" dirty="0">
                <a:solidFill>
                  <a:srgbClr val="E6EDF3"/>
                </a:solidFill>
                <a:latin typeface="Calibri"/>
              </a:rPr>
              <a:t>GitHub account &amp; profile, personal Pages site, course repo with structured Markdown</a:t>
            </a:r>
          </a:p>
          <a:p>
            <a:pPr algn="l">
              <a:lnSpc>
                <a:spcPct val="106000"/>
              </a:lnSpc>
              <a:spcAft>
                <a:spcPts val="700"/>
              </a:spcAft>
            </a:pPr>
            <a:r>
              <a:rPr sz="1300" b="1" i="0" dirty="0">
                <a:solidFill>
                  <a:srgbClr val="58A6FF"/>
                </a:solidFill>
                <a:latin typeface="Calibri"/>
              </a:rPr>
              <a:t>▸ </a:t>
            </a:r>
            <a:r>
              <a:rPr sz="1300" b="1" i="0" dirty="0">
                <a:solidFill>
                  <a:srgbClr val="E6EDF3"/>
                </a:solidFill>
                <a:latin typeface="Calibri"/>
              </a:rPr>
              <a:t>Submission READMEs </a:t>
            </a:r>
            <a:r>
              <a:rPr sz="1300" b="0" i="0" dirty="0">
                <a:solidFill>
                  <a:srgbClr val="E6EDF3"/>
                </a:solidFill>
                <a:latin typeface="Calibri"/>
              </a:rPr>
              <a:t>with tables, checklists and links</a:t>
            </a:r>
          </a:p>
          <a:p>
            <a:pPr algn="l">
              <a:lnSpc>
                <a:spcPct val="106000"/>
              </a:lnSpc>
              <a:spcAft>
                <a:spcPts val="700"/>
              </a:spcAft>
            </a:pPr>
            <a:r>
              <a:rPr sz="1300" b="1" i="0" dirty="0">
                <a:solidFill>
                  <a:srgbClr val="58A6FF"/>
                </a:solidFill>
                <a:latin typeface="Calibri"/>
              </a:rPr>
              <a:t>▸ </a:t>
            </a:r>
            <a:r>
              <a:rPr sz="1300" b="1" i="0" dirty="0">
                <a:solidFill>
                  <a:srgbClr val="E6EDF3"/>
                </a:solidFill>
                <a:latin typeface="Calibri"/>
              </a:rPr>
              <a:t>A real merge conflict, </a:t>
            </a:r>
            <a:r>
              <a:rPr sz="1300" b="0" i="0" dirty="0">
                <a:solidFill>
                  <a:srgbClr val="E6EDF3"/>
                </a:solidFill>
                <a:latin typeface="Calibri"/>
              </a:rPr>
              <a:t>resolved with a merge commit (91dad51)</a:t>
            </a:r>
          </a:p>
        </p:txBody>
      </p:sp>
      <p:sp>
        <p:nvSpPr>
          <p:cNvPr id="9" name="TextBox 8"/>
          <p:cNvSpPr txBox="1"/>
          <p:nvPr/>
        </p:nvSpPr>
        <p:spPr>
          <a:xfrm>
            <a:off x="6355080" y="3520440"/>
            <a:ext cx="5212080" cy="274320"/>
          </a:xfrm>
          <a:prstGeom prst="rect">
            <a:avLst/>
          </a:prstGeom>
          <a:noFill/>
        </p:spPr>
        <p:txBody>
          <a:bodyPr wrap="square" lIns="0" tIns="0" rIns="0" bIns="0" anchor="t">
            <a:spAutoFit/>
          </a:bodyPr>
          <a:lstStyle/>
          <a:p>
            <a:pPr algn="l"/>
            <a:r>
              <a:rPr sz="1400" b="1" i="0">
                <a:solidFill>
                  <a:srgbClr val="2DD4BF"/>
                </a:solidFill>
                <a:latin typeface="Consolas"/>
              </a:rPr>
              <a:t>What this repository demonstrates</a:t>
            </a:r>
          </a:p>
        </p:txBody>
      </p:sp>
      <p:sp>
        <p:nvSpPr>
          <p:cNvPr id="10" name="TextBox 9"/>
          <p:cNvSpPr txBox="1"/>
          <p:nvPr/>
        </p:nvSpPr>
        <p:spPr>
          <a:xfrm>
            <a:off x="6355080" y="3849624"/>
            <a:ext cx="5257800" cy="1609344"/>
          </a:xfrm>
          <a:prstGeom prst="rect">
            <a:avLst/>
          </a:prstGeom>
          <a:noFill/>
        </p:spPr>
        <p:txBody>
          <a:bodyPr wrap="square" lIns="0" tIns="0" rIns="0" bIns="0" anchor="t">
            <a:spAutoFit/>
          </a:bodyPr>
          <a:lstStyle/>
          <a:p>
            <a:pPr algn="l">
              <a:lnSpc>
                <a:spcPct val="106000"/>
              </a:lnSpc>
              <a:spcAft>
                <a:spcPts val="700"/>
              </a:spcAft>
            </a:pPr>
            <a:r>
              <a:rPr sz="1300" b="1" i="0">
                <a:solidFill>
                  <a:srgbClr val="3FB950"/>
                </a:solidFill>
                <a:latin typeface="Calibri"/>
              </a:rPr>
              <a:t>▸ </a:t>
            </a:r>
            <a:r>
              <a:rPr sz="1300" b="0" i="0">
                <a:solidFill>
                  <a:srgbClr val="E6EDF3"/>
                </a:solidFill>
                <a:latin typeface="Calibri"/>
              </a:rPr>
              <a:t>Git fundamentals: clone, add, commit, push, pull, merge</a:t>
            </a:r>
          </a:p>
          <a:p>
            <a:pPr algn="l">
              <a:lnSpc>
                <a:spcPct val="106000"/>
              </a:lnSpc>
              <a:spcAft>
                <a:spcPts val="700"/>
              </a:spcAft>
            </a:pPr>
            <a:r>
              <a:rPr sz="1300" b="1" i="0">
                <a:solidFill>
                  <a:srgbClr val="3FB950"/>
                </a:solidFill>
                <a:latin typeface="Calibri"/>
              </a:rPr>
              <a:t>▸ </a:t>
            </a:r>
            <a:r>
              <a:rPr sz="1300" b="0" i="0">
                <a:solidFill>
                  <a:srgbClr val="E6EDF3"/>
                </a:solidFill>
                <a:latin typeface="Calibri"/>
              </a:rPr>
              <a:t>Markdown as structured documentation (tables, task lists)</a:t>
            </a:r>
          </a:p>
          <a:p>
            <a:pPr algn="l">
              <a:lnSpc>
                <a:spcPct val="106000"/>
              </a:lnSpc>
              <a:spcAft>
                <a:spcPts val="700"/>
              </a:spcAft>
            </a:pPr>
            <a:r>
              <a:rPr sz="1300" b="1" i="0">
                <a:solidFill>
                  <a:srgbClr val="3FB950"/>
                </a:solidFill>
                <a:latin typeface="Calibri"/>
              </a:rPr>
              <a:t>▸ </a:t>
            </a:r>
            <a:r>
              <a:rPr sz="1300" b="0" i="0">
                <a:solidFill>
                  <a:srgbClr val="E6EDF3"/>
                </a:solidFill>
                <a:latin typeface="Calibri"/>
              </a:rPr>
              <a:t>Clean repository organization by assignment</a:t>
            </a:r>
          </a:p>
          <a:p>
            <a:pPr algn="l">
              <a:lnSpc>
                <a:spcPct val="106000"/>
              </a:lnSpc>
              <a:spcAft>
                <a:spcPts val="700"/>
              </a:spcAft>
            </a:pPr>
            <a:r>
              <a:rPr sz="1300" b="1" i="0">
                <a:solidFill>
                  <a:srgbClr val="3FB950"/>
                </a:solidFill>
                <a:latin typeface="Calibri"/>
              </a:rPr>
              <a:t>▸ </a:t>
            </a:r>
            <a:r>
              <a:rPr sz="1300" b="0" i="0">
                <a:solidFill>
                  <a:srgbClr val="E6EDF3"/>
                </a:solidFill>
                <a:latin typeface="Calibri"/>
              </a:rPr>
              <a:t>The hub that links profile, Pages site and projects together</a:t>
            </a:r>
          </a:p>
        </p:txBody>
      </p:sp>
      <p:sp>
        <p:nvSpPr>
          <p:cNvPr id="11" name="TextBox 10"/>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05 / 1</a:t>
            </a:r>
            <a:r>
              <a:rPr lang="en-US" sz="1000" b="0" i="0" dirty="0">
                <a:solidFill>
                  <a:srgbClr val="8B949E"/>
                </a:solidFill>
                <a:latin typeface="Consolas"/>
              </a:rPr>
              <a:t>5</a:t>
            </a:r>
            <a:endParaRPr sz="1000" b="0" i="0" dirty="0">
              <a:solidFill>
                <a:srgbClr val="8B949E"/>
              </a:solidFill>
              <a:latin typeface="Consolas"/>
            </a:endParaRPr>
          </a:p>
        </p:txBody>
      </p:sp>
      <p:sp>
        <p:nvSpPr>
          <p:cNvPr id="12" name="TextBox 11"/>
          <p:cNvSpPr txBox="1"/>
          <p:nvPr/>
        </p:nvSpPr>
        <p:spPr>
          <a:xfrm>
            <a:off x="548640" y="6473952"/>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pic>
        <p:nvPicPr>
          <p:cNvPr id="14" name="Picture 13">
            <a:extLst>
              <a:ext uri="{FF2B5EF4-FFF2-40B4-BE49-F238E27FC236}">
                <a16:creationId xmlns:a16="http://schemas.microsoft.com/office/drawing/2014/main" id="{A10ACC74-C30E-B738-87B7-B262469760B6}"/>
              </a:ext>
            </a:extLst>
          </p:cNvPr>
          <p:cNvPicPr>
            <a:picLocks noChangeAspect="1"/>
          </p:cNvPicPr>
          <p:nvPr/>
        </p:nvPicPr>
        <p:blipFill>
          <a:blip r:embed="rId3"/>
          <a:stretch>
            <a:fillRect/>
          </a:stretch>
        </p:blipFill>
        <p:spPr>
          <a:xfrm>
            <a:off x="624840" y="1912632"/>
            <a:ext cx="4572000" cy="3873984"/>
          </a:xfrm>
          <a:prstGeom prst="rect">
            <a:avLst/>
          </a:prstGeom>
        </p:spPr>
      </p:pic>
      <p:sp>
        <p:nvSpPr>
          <p:cNvPr id="15" name="TextBox 14">
            <a:extLst>
              <a:ext uri="{FF2B5EF4-FFF2-40B4-BE49-F238E27FC236}">
                <a16:creationId xmlns:a16="http://schemas.microsoft.com/office/drawing/2014/main" id="{FB5F34FD-66BC-B720-1F31-8844C028E014}"/>
              </a:ext>
            </a:extLst>
          </p:cNvPr>
          <p:cNvSpPr txBox="1"/>
          <p:nvPr/>
        </p:nvSpPr>
        <p:spPr>
          <a:xfrm>
            <a:off x="518160" y="1417320"/>
            <a:ext cx="5212080" cy="169277"/>
          </a:xfrm>
          <a:prstGeom prst="rect">
            <a:avLst/>
          </a:prstGeom>
          <a:noFill/>
        </p:spPr>
        <p:txBody>
          <a:bodyPr wrap="square" lIns="0" tIns="0" rIns="0" bIns="0" anchor="t">
            <a:spAutoFit/>
          </a:bodyPr>
          <a:lstStyle/>
          <a:p>
            <a:r>
              <a:rPr lang="en-US" sz="1100" dirty="0">
                <a:solidFill>
                  <a:srgbClr val="58A6FF"/>
                </a:solidFill>
                <a:latin typeface="Consolas"/>
              </a:rPr>
              <a:t>URL: </a:t>
            </a:r>
            <a:r>
              <a:rPr lang="en-US" sz="1100" dirty="0">
                <a:solidFill>
                  <a:srgbClr val="58A6FF"/>
                </a:solidFill>
                <a:latin typeface="Consolas"/>
                <a:hlinkClick r:id="rId4"/>
              </a:rPr>
              <a:t>Course Repository</a:t>
            </a:r>
            <a:endParaRPr sz="1100" dirty="0">
              <a:solidFill>
                <a:srgbClr val="58A6FF"/>
              </a:solidFill>
              <a:latin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r>
              <a:rPr sz="1200" b="1" i="0">
                <a:solidFill>
                  <a:srgbClr val="58A6FF"/>
                </a:solidFill>
                <a:latin typeface="Consolas"/>
              </a:rPr>
              <a:t>SECTION 04 · PROJECT 0</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000" b="1" i="0">
                <a:solidFill>
                  <a:srgbClr val="E6EDF3"/>
                </a:solidFill>
                <a:latin typeface="Consolas"/>
              </a:rPr>
              <a:t>Two Sum — Goal &amp; Algorithm</a:t>
            </a:r>
          </a:p>
        </p:txBody>
      </p:sp>
      <p:sp>
        <p:nvSpPr>
          <p:cNvPr id="5" name="Rounded Rectangle 4"/>
          <p:cNvSpPr/>
          <p:nvPr/>
        </p:nvSpPr>
        <p:spPr>
          <a:xfrm>
            <a:off x="548640" y="1517904"/>
            <a:ext cx="11091672" cy="713232"/>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45920"/>
            <a:ext cx="10698480" cy="215444"/>
          </a:xfrm>
          <a:prstGeom prst="rect">
            <a:avLst/>
          </a:prstGeom>
          <a:noFill/>
        </p:spPr>
        <p:txBody>
          <a:bodyPr wrap="square" lIns="0" tIns="0" rIns="0" bIns="0" anchor="t">
            <a:spAutoFit/>
          </a:bodyPr>
          <a:lstStyle/>
          <a:p>
            <a:pPr algn="l"/>
            <a:r>
              <a:rPr sz="1400" b="1" i="0" dirty="0">
                <a:solidFill>
                  <a:srgbClr val="2DD4BF"/>
                </a:solidFill>
                <a:latin typeface="Calibri"/>
              </a:rPr>
              <a:t>Goal:  </a:t>
            </a:r>
            <a:r>
              <a:rPr sz="1400" b="0" i="0" dirty="0">
                <a:solidFill>
                  <a:srgbClr val="E6EDF3"/>
                </a:solidFill>
                <a:latin typeface="Calibri"/>
              </a:rPr>
              <a:t>given an array and a target, return the indices of two numbers that sum to the target  implemented twice, to compare algorithmic trade-offs.</a:t>
            </a:r>
          </a:p>
        </p:txBody>
      </p:sp>
      <p:sp>
        <p:nvSpPr>
          <p:cNvPr id="7" name="Rounded Rectangle 6"/>
          <p:cNvSpPr/>
          <p:nvPr/>
        </p:nvSpPr>
        <p:spPr>
          <a:xfrm>
            <a:off x="548640" y="2468880"/>
            <a:ext cx="5440680" cy="1874519"/>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615184"/>
            <a:ext cx="5038344" cy="274320"/>
          </a:xfrm>
          <a:prstGeom prst="rect">
            <a:avLst/>
          </a:prstGeom>
          <a:noFill/>
        </p:spPr>
        <p:txBody>
          <a:bodyPr wrap="square" lIns="0" tIns="0" rIns="0" bIns="0" anchor="t">
            <a:spAutoFit/>
          </a:bodyPr>
          <a:lstStyle/>
          <a:p>
            <a:pPr algn="l"/>
            <a:r>
              <a:rPr sz="1350" b="1" i="0">
                <a:solidFill>
                  <a:srgbClr val="D29922"/>
                </a:solidFill>
                <a:latin typeface="Consolas"/>
              </a:rPr>
              <a:t>twoSumArray — brute force</a:t>
            </a:r>
          </a:p>
        </p:txBody>
      </p:sp>
      <p:sp>
        <p:nvSpPr>
          <p:cNvPr id="9" name="TextBox 8"/>
          <p:cNvSpPr txBox="1"/>
          <p:nvPr/>
        </p:nvSpPr>
        <p:spPr>
          <a:xfrm>
            <a:off x="749808" y="2944368"/>
            <a:ext cx="5056632" cy="1298448"/>
          </a:xfrm>
          <a:prstGeom prst="rect">
            <a:avLst/>
          </a:prstGeom>
          <a:noFill/>
        </p:spPr>
        <p:txBody>
          <a:bodyPr wrap="square" lIns="0" tIns="0" rIns="0" bIns="0" anchor="t">
            <a:spAutoFit/>
          </a:bodyPr>
          <a:lstStyle/>
          <a:p>
            <a:pPr algn="l">
              <a:lnSpc>
                <a:spcPct val="106000"/>
              </a:lnSpc>
              <a:spcAft>
                <a:spcPts val="500"/>
              </a:spcAft>
            </a:pPr>
            <a:r>
              <a:rPr sz="1300" b="1" i="0">
                <a:solidFill>
                  <a:srgbClr val="D29922"/>
                </a:solidFill>
                <a:latin typeface="Calibri"/>
              </a:rPr>
              <a:t>▸ </a:t>
            </a:r>
            <a:r>
              <a:rPr sz="1300" b="1" i="0">
                <a:solidFill>
                  <a:srgbClr val="E6EDF3"/>
                </a:solidFill>
                <a:latin typeface="Calibri"/>
              </a:rPr>
              <a:t>Nested loops </a:t>
            </a:r>
            <a:r>
              <a:rPr sz="1300" b="0" i="0">
                <a:solidFill>
                  <a:srgbClr val="E6EDF3"/>
                </a:solidFill>
                <a:latin typeface="Calibri"/>
              </a:rPr>
              <a:t>check every pair</a:t>
            </a:r>
          </a:p>
          <a:p>
            <a:pPr algn="l">
              <a:lnSpc>
                <a:spcPct val="106000"/>
              </a:lnSpc>
              <a:spcAft>
                <a:spcPts val="500"/>
              </a:spcAft>
            </a:pPr>
            <a:r>
              <a:rPr sz="1300" b="1" i="0">
                <a:solidFill>
                  <a:srgbClr val="D29922"/>
                </a:solidFill>
                <a:latin typeface="Calibri"/>
              </a:rPr>
              <a:t>▸ </a:t>
            </a:r>
            <a:r>
              <a:rPr sz="1300" b="1" i="0">
                <a:solidFill>
                  <a:srgbClr val="E6EDF3"/>
                </a:solidFill>
                <a:latin typeface="Calibri"/>
              </a:rPr>
              <a:t>O(n²) time · O(1) space</a:t>
            </a:r>
          </a:p>
          <a:p>
            <a:pPr algn="l">
              <a:lnSpc>
                <a:spcPct val="106000"/>
              </a:lnSpc>
              <a:spcAft>
                <a:spcPts val="500"/>
              </a:spcAft>
            </a:pPr>
            <a:r>
              <a:rPr sz="1300" b="1" i="0">
                <a:solidFill>
                  <a:srgbClr val="D29922"/>
                </a:solidFill>
                <a:latin typeface="Calibri"/>
              </a:rPr>
              <a:t>▸ </a:t>
            </a:r>
            <a:r>
              <a:rPr sz="1300" b="1" i="0">
                <a:solidFill>
                  <a:srgbClr val="E6EDF3"/>
                </a:solidFill>
                <a:latin typeface="Calibri"/>
              </a:rPr>
              <a:t>Simple; fine for small inputs</a:t>
            </a:r>
          </a:p>
        </p:txBody>
      </p:sp>
      <p:sp>
        <p:nvSpPr>
          <p:cNvPr id="10" name="Rounded Rectangle 9"/>
          <p:cNvSpPr/>
          <p:nvPr/>
        </p:nvSpPr>
        <p:spPr>
          <a:xfrm>
            <a:off x="6199632" y="2468880"/>
            <a:ext cx="5440680" cy="1874519"/>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2615184"/>
            <a:ext cx="5038344" cy="274320"/>
          </a:xfrm>
          <a:prstGeom prst="rect">
            <a:avLst/>
          </a:prstGeom>
          <a:noFill/>
        </p:spPr>
        <p:txBody>
          <a:bodyPr wrap="square" lIns="0" tIns="0" rIns="0" bIns="0" anchor="t">
            <a:spAutoFit/>
          </a:bodyPr>
          <a:lstStyle/>
          <a:p>
            <a:pPr algn="l"/>
            <a:r>
              <a:rPr sz="1350" b="1" i="0">
                <a:solidFill>
                  <a:srgbClr val="3FB950"/>
                </a:solidFill>
                <a:latin typeface="Consolas"/>
              </a:rPr>
              <a:t>twoSumHashTable — optimized</a:t>
            </a:r>
          </a:p>
        </p:txBody>
      </p:sp>
      <p:sp>
        <p:nvSpPr>
          <p:cNvPr id="12" name="TextBox 11"/>
          <p:cNvSpPr txBox="1"/>
          <p:nvPr/>
        </p:nvSpPr>
        <p:spPr>
          <a:xfrm>
            <a:off x="6400800" y="2944368"/>
            <a:ext cx="5056632" cy="1298448"/>
          </a:xfrm>
          <a:prstGeom prst="rect">
            <a:avLst/>
          </a:prstGeom>
          <a:noFill/>
        </p:spPr>
        <p:txBody>
          <a:bodyPr wrap="square" lIns="0" tIns="0" rIns="0" bIns="0" anchor="t">
            <a:spAutoFit/>
          </a:bodyPr>
          <a:lstStyle/>
          <a:p>
            <a:pPr algn="l">
              <a:lnSpc>
                <a:spcPct val="106000"/>
              </a:lnSpc>
              <a:spcAft>
                <a:spcPts val="500"/>
              </a:spcAft>
            </a:pPr>
            <a:r>
              <a:rPr sz="1300" b="1" i="0">
                <a:solidFill>
                  <a:srgbClr val="3FB950"/>
                </a:solidFill>
                <a:latin typeface="Calibri"/>
              </a:rPr>
              <a:t>▸ </a:t>
            </a:r>
            <a:r>
              <a:rPr sz="1300" b="1" i="0">
                <a:solidFill>
                  <a:srgbClr val="E6EDF3"/>
                </a:solidFill>
                <a:latin typeface="Calibri"/>
              </a:rPr>
              <a:t>Single pass </a:t>
            </a:r>
            <a:r>
              <a:rPr sz="1300" b="0" i="0">
                <a:solidFill>
                  <a:srgbClr val="E6EDF3"/>
                </a:solidFill>
                <a:latin typeface="Calibri"/>
              </a:rPr>
              <a:t>with complement lookup</a:t>
            </a:r>
          </a:p>
          <a:p>
            <a:pPr algn="l">
              <a:lnSpc>
                <a:spcPct val="106000"/>
              </a:lnSpc>
              <a:spcAft>
                <a:spcPts val="500"/>
              </a:spcAft>
            </a:pPr>
            <a:r>
              <a:rPr sz="1300" b="1" i="0">
                <a:solidFill>
                  <a:srgbClr val="3FB950"/>
                </a:solidFill>
                <a:latin typeface="Calibri"/>
              </a:rPr>
              <a:t>▸ </a:t>
            </a:r>
            <a:r>
              <a:rPr sz="1300" b="1" i="0">
                <a:solidFill>
                  <a:srgbClr val="E6EDF3"/>
                </a:solidFill>
                <a:latin typeface="Calibri"/>
              </a:rPr>
              <a:t>O(n) time · O(n) space</a:t>
            </a:r>
          </a:p>
          <a:p>
            <a:pPr algn="l">
              <a:lnSpc>
                <a:spcPct val="106000"/>
              </a:lnSpc>
              <a:spcAft>
                <a:spcPts val="500"/>
              </a:spcAft>
            </a:pPr>
            <a:r>
              <a:rPr sz="1300" b="1" i="0">
                <a:solidFill>
                  <a:srgbClr val="3FB950"/>
                </a:solidFill>
                <a:latin typeface="Calibri"/>
              </a:rPr>
              <a:t>▸ </a:t>
            </a:r>
            <a:r>
              <a:rPr sz="1300" b="1" i="0">
                <a:solidFill>
                  <a:srgbClr val="E6EDF3"/>
                </a:solidFill>
                <a:latin typeface="Calibri"/>
              </a:rPr>
              <a:t>unordered_map&lt;value, index&gt;</a:t>
            </a:r>
          </a:p>
        </p:txBody>
      </p:sp>
      <p:sp>
        <p:nvSpPr>
          <p:cNvPr id="13" name="Rounded Rectangle 12"/>
          <p:cNvSpPr/>
          <p:nvPr/>
        </p:nvSpPr>
        <p:spPr>
          <a:xfrm>
            <a:off x="548640" y="4526280"/>
            <a:ext cx="11091672" cy="178308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94944" y="4654296"/>
            <a:ext cx="100584" cy="100584"/>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96112" y="4654296"/>
            <a:ext cx="100584" cy="100584"/>
          </a:xfrm>
          <a:prstGeom prst="ellipse">
            <a:avLst/>
          </a:prstGeom>
          <a:solidFill>
            <a:srgbClr val="D299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7280" y="4654296"/>
            <a:ext cx="100584" cy="100584"/>
          </a:xfrm>
          <a:prstGeom prst="ellipse">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71600" y="4617720"/>
            <a:ext cx="10177272" cy="219456"/>
          </a:xfrm>
          <a:prstGeom prst="rect">
            <a:avLst/>
          </a:prstGeom>
          <a:noFill/>
        </p:spPr>
        <p:txBody>
          <a:bodyPr wrap="square" lIns="0" tIns="0" rIns="0" bIns="0" anchor="t">
            <a:spAutoFit/>
          </a:bodyPr>
          <a:lstStyle/>
          <a:p>
            <a:pPr algn="l"/>
            <a:r>
              <a:rPr sz="1050" b="0" i="0">
                <a:solidFill>
                  <a:srgbClr val="8B949E"/>
                </a:solidFill>
                <a:latin typeface="Consolas"/>
              </a:rPr>
              <a:t>src/twosum.cpp — the core idea</a:t>
            </a:r>
          </a:p>
        </p:txBody>
      </p:sp>
      <p:sp>
        <p:nvSpPr>
          <p:cNvPr id="18" name="Rectangle 17"/>
          <p:cNvSpPr/>
          <p:nvPr/>
        </p:nvSpPr>
        <p:spPr>
          <a:xfrm>
            <a:off x="548640" y="4873752"/>
            <a:ext cx="11091672" cy="1016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5001768"/>
            <a:ext cx="10698480" cy="1097280"/>
          </a:xfrm>
          <a:prstGeom prst="rect">
            <a:avLst/>
          </a:prstGeom>
          <a:noFill/>
        </p:spPr>
        <p:txBody>
          <a:bodyPr wrap="square" lIns="0" tIns="0" rIns="0" bIns="0" anchor="t">
            <a:spAutoFit/>
          </a:bodyPr>
          <a:lstStyle/>
          <a:p>
            <a:pPr algn="l">
              <a:lnSpc>
                <a:spcPct val="112000"/>
              </a:lnSpc>
            </a:pPr>
            <a:r>
              <a:rPr sz="1250" b="0" i="0">
                <a:solidFill>
                  <a:srgbClr val="BC8CFF"/>
                </a:solidFill>
                <a:latin typeface="Consolas"/>
              </a:rPr>
              <a:t>for </a:t>
            </a:r>
            <a:r>
              <a:rPr sz="1250" b="0" i="0">
                <a:solidFill>
                  <a:srgbClr val="E6EDF3"/>
                </a:solidFill>
                <a:latin typeface="Consolas"/>
              </a:rPr>
              <a:t>(int i = 0; i &lt; nums.size(); ++i) {</a:t>
            </a:r>
          </a:p>
          <a:p>
            <a:pPr algn="l">
              <a:lnSpc>
                <a:spcPct val="112000"/>
              </a:lnSpc>
            </a:pPr>
            <a:r>
              <a:rPr sz="1250" b="0" i="0">
                <a:solidFill>
                  <a:srgbClr val="BC8CFF"/>
                </a:solidFill>
                <a:latin typeface="Consolas"/>
              </a:rPr>
              <a:t>    int </a:t>
            </a:r>
            <a:r>
              <a:rPr sz="1250" b="0" i="0">
                <a:solidFill>
                  <a:srgbClr val="E6EDF3"/>
                </a:solidFill>
                <a:latin typeface="Consolas"/>
              </a:rPr>
              <a:t>complement = target - nums[i];</a:t>
            </a:r>
            <a:r>
              <a:rPr sz="1250" b="0" i="0">
                <a:solidFill>
                  <a:srgbClr val="8B949E"/>
                </a:solidFill>
                <a:latin typeface="Consolas"/>
              </a:rPr>
              <a:t>            // what would complete the pair?</a:t>
            </a:r>
          </a:p>
          <a:p>
            <a:pPr algn="l">
              <a:lnSpc>
                <a:spcPct val="112000"/>
              </a:lnSpc>
            </a:pPr>
            <a:r>
              <a:rPr sz="1250" b="0" i="0">
                <a:solidFill>
                  <a:srgbClr val="BC8CFF"/>
                </a:solidFill>
                <a:latin typeface="Consolas"/>
              </a:rPr>
              <a:t>    if </a:t>
            </a:r>
            <a:r>
              <a:rPr sz="1250" b="0" i="0">
                <a:solidFill>
                  <a:srgbClr val="E6EDF3"/>
                </a:solidFill>
                <a:latin typeface="Consolas"/>
              </a:rPr>
              <a:t>(numMap.find(complement) != numMap.end()) return {numMap[complement], i};</a:t>
            </a:r>
          </a:p>
          <a:p>
            <a:pPr algn="l">
              <a:lnSpc>
                <a:spcPct val="112000"/>
              </a:lnSpc>
            </a:pPr>
            <a:r>
              <a:rPr sz="1250" b="0" i="0">
                <a:solidFill>
                  <a:srgbClr val="E6EDF3"/>
                </a:solidFill>
                <a:latin typeface="Consolas"/>
              </a:rPr>
              <a:t>    numMap[nums[i]] = i;</a:t>
            </a:r>
            <a:r>
              <a:rPr sz="1250" b="0" i="0">
                <a:solidFill>
                  <a:srgbClr val="8B949E"/>
                </a:solidFill>
                <a:latin typeface="Consolas"/>
              </a:rPr>
              <a:t>                          // remember and move on</a:t>
            </a:r>
          </a:p>
        </p:txBody>
      </p:sp>
      <p:sp>
        <p:nvSpPr>
          <p:cNvPr id="20" name="TextBox 19"/>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06 / 1</a:t>
            </a:r>
            <a:r>
              <a:rPr lang="en-US" sz="1000" b="0" i="0" dirty="0">
                <a:solidFill>
                  <a:srgbClr val="8B949E"/>
                </a:solidFill>
                <a:latin typeface="Consolas"/>
              </a:rPr>
              <a:t>5</a:t>
            </a:r>
            <a:endParaRPr sz="1000" b="0" i="0" dirty="0">
              <a:solidFill>
                <a:srgbClr val="8B949E"/>
              </a:solidFill>
              <a:latin typeface="Consolas"/>
            </a:endParaRPr>
          </a:p>
        </p:txBody>
      </p:sp>
      <p:sp>
        <p:nvSpPr>
          <p:cNvPr id="21" name="TextBox 20"/>
          <p:cNvSpPr txBox="1"/>
          <p:nvPr/>
        </p:nvSpPr>
        <p:spPr>
          <a:xfrm>
            <a:off x="548640" y="6473952"/>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sp>
        <p:nvSpPr>
          <p:cNvPr id="22" name="TextBox 21">
            <a:extLst>
              <a:ext uri="{FF2B5EF4-FFF2-40B4-BE49-F238E27FC236}">
                <a16:creationId xmlns:a16="http://schemas.microsoft.com/office/drawing/2014/main" id="{9CAE7A26-6A2F-062A-55AA-7E84D31BA63D}"/>
              </a:ext>
            </a:extLst>
          </p:cNvPr>
          <p:cNvSpPr txBox="1"/>
          <p:nvPr/>
        </p:nvSpPr>
        <p:spPr>
          <a:xfrm>
            <a:off x="6949440" y="811473"/>
            <a:ext cx="5212080" cy="169277"/>
          </a:xfrm>
          <a:prstGeom prst="rect">
            <a:avLst/>
          </a:prstGeom>
          <a:noFill/>
        </p:spPr>
        <p:txBody>
          <a:bodyPr wrap="square" lIns="0" tIns="0" rIns="0" bIns="0" anchor="t">
            <a:spAutoFit/>
          </a:bodyPr>
          <a:lstStyle/>
          <a:p>
            <a:r>
              <a:rPr lang="en-US" sz="1100" dirty="0">
                <a:solidFill>
                  <a:srgbClr val="58A6FF"/>
                </a:solidFill>
                <a:latin typeface="Consolas"/>
              </a:rPr>
              <a:t>URL: </a:t>
            </a:r>
            <a:r>
              <a:rPr lang="en-US" sz="1100" dirty="0">
                <a:solidFill>
                  <a:srgbClr val="58A6FF"/>
                </a:solidFill>
                <a:latin typeface="Consolas"/>
                <a:hlinkClick r:id="rId3"/>
              </a:rPr>
              <a:t>Two-Sum Repository</a:t>
            </a:r>
            <a:endParaRPr sz="1100" dirty="0">
              <a:solidFill>
                <a:srgbClr val="58A6FF"/>
              </a:solidFill>
              <a:latin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r>
              <a:rPr sz="1200" b="1" i="0">
                <a:solidFill>
                  <a:srgbClr val="58A6FF"/>
                </a:solidFill>
                <a:latin typeface="Consolas"/>
              </a:rPr>
              <a:t>SECTION 04 · PROJECT 0</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000" b="1" i="0">
                <a:solidFill>
                  <a:srgbClr val="E6EDF3"/>
                </a:solidFill>
                <a:latin typeface="Consolas"/>
              </a:rPr>
              <a:t>Two Sum — Testing &amp; CI</a:t>
            </a:r>
          </a:p>
        </p:txBody>
      </p:sp>
      <p:sp>
        <p:nvSpPr>
          <p:cNvPr id="5" name="TextBox 4"/>
          <p:cNvSpPr txBox="1"/>
          <p:nvPr/>
        </p:nvSpPr>
        <p:spPr>
          <a:xfrm>
            <a:off x="1371287" y="1306883"/>
            <a:ext cx="985847" cy="430887"/>
          </a:xfrm>
          <a:prstGeom prst="rect">
            <a:avLst/>
          </a:prstGeom>
          <a:noFill/>
        </p:spPr>
        <p:txBody>
          <a:bodyPr wrap="none" lIns="0" tIns="0" rIns="0" bIns="0" anchor="b">
            <a:spAutoFit/>
          </a:bodyPr>
          <a:lstStyle/>
          <a:p>
            <a:pPr algn="ctr"/>
            <a:r>
              <a:rPr sz="2800" b="1" i="0" dirty="0">
                <a:solidFill>
                  <a:srgbClr val="3FB950"/>
                </a:solidFill>
                <a:latin typeface="Consolas"/>
              </a:rPr>
              <a:t>40/40</a:t>
            </a:r>
          </a:p>
        </p:txBody>
      </p:sp>
      <p:sp>
        <p:nvSpPr>
          <p:cNvPr id="6" name="TextBox 5"/>
          <p:cNvSpPr txBox="1"/>
          <p:nvPr/>
        </p:nvSpPr>
        <p:spPr>
          <a:xfrm>
            <a:off x="486465" y="1779308"/>
            <a:ext cx="2743200" cy="184666"/>
          </a:xfrm>
          <a:prstGeom prst="rect">
            <a:avLst/>
          </a:prstGeom>
          <a:noFill/>
        </p:spPr>
        <p:txBody>
          <a:bodyPr wrap="square" lIns="0" tIns="0" rIns="0" bIns="0" anchor="t">
            <a:spAutoFit/>
          </a:bodyPr>
          <a:lstStyle/>
          <a:p>
            <a:pPr algn="ctr"/>
            <a:r>
              <a:rPr sz="1200" b="0" i="0" dirty="0">
                <a:solidFill>
                  <a:srgbClr val="8B949E"/>
                </a:solidFill>
                <a:latin typeface="Calibri"/>
              </a:rPr>
              <a:t>tests passing </a:t>
            </a:r>
          </a:p>
        </p:txBody>
      </p:sp>
      <p:sp>
        <p:nvSpPr>
          <p:cNvPr id="7" name="TextBox 6"/>
          <p:cNvSpPr txBox="1"/>
          <p:nvPr/>
        </p:nvSpPr>
        <p:spPr>
          <a:xfrm>
            <a:off x="3254031" y="1304625"/>
            <a:ext cx="226024" cy="492443"/>
          </a:xfrm>
          <a:prstGeom prst="rect">
            <a:avLst/>
          </a:prstGeom>
          <a:noFill/>
        </p:spPr>
        <p:txBody>
          <a:bodyPr wrap="none" lIns="0" tIns="0" rIns="0" bIns="0" anchor="b">
            <a:spAutoFit/>
          </a:bodyPr>
          <a:lstStyle/>
          <a:p>
            <a:pPr algn="ctr"/>
            <a:r>
              <a:rPr sz="3200" b="1" i="0" dirty="0">
                <a:solidFill>
                  <a:srgbClr val="58A6FF"/>
                </a:solidFill>
                <a:latin typeface="Consolas"/>
              </a:rPr>
              <a:t>6</a:t>
            </a:r>
          </a:p>
        </p:txBody>
      </p:sp>
      <p:sp>
        <p:nvSpPr>
          <p:cNvPr id="8" name="TextBox 7"/>
          <p:cNvSpPr txBox="1"/>
          <p:nvPr/>
        </p:nvSpPr>
        <p:spPr>
          <a:xfrm>
            <a:off x="2122212" y="1801542"/>
            <a:ext cx="2377440" cy="502920"/>
          </a:xfrm>
          <a:prstGeom prst="rect">
            <a:avLst/>
          </a:prstGeom>
          <a:noFill/>
        </p:spPr>
        <p:txBody>
          <a:bodyPr wrap="square" lIns="0" tIns="0" rIns="0" bIns="0" anchor="t">
            <a:spAutoFit/>
          </a:bodyPr>
          <a:lstStyle/>
          <a:p>
            <a:pPr algn="ctr"/>
            <a:r>
              <a:rPr sz="1200" b="0" i="0" dirty="0">
                <a:solidFill>
                  <a:srgbClr val="8B949E"/>
                </a:solidFill>
                <a:latin typeface="Calibri"/>
              </a:rPr>
              <a:t>test suites</a:t>
            </a:r>
          </a:p>
        </p:txBody>
      </p:sp>
      <p:sp>
        <p:nvSpPr>
          <p:cNvPr id="11" name="TextBox 10"/>
          <p:cNvSpPr txBox="1"/>
          <p:nvPr/>
        </p:nvSpPr>
        <p:spPr>
          <a:xfrm>
            <a:off x="4640196" y="1351385"/>
            <a:ext cx="788677" cy="430887"/>
          </a:xfrm>
          <a:prstGeom prst="rect">
            <a:avLst/>
          </a:prstGeom>
          <a:noFill/>
        </p:spPr>
        <p:txBody>
          <a:bodyPr wrap="none" lIns="0" tIns="0" rIns="0" bIns="0" anchor="b">
            <a:spAutoFit/>
          </a:bodyPr>
          <a:lstStyle/>
          <a:p>
            <a:pPr algn="ctr"/>
            <a:r>
              <a:rPr sz="2800" b="1" i="0" dirty="0">
                <a:solidFill>
                  <a:srgbClr val="2DD4BF"/>
                </a:solidFill>
                <a:latin typeface="Consolas"/>
              </a:rPr>
              <a:t>100%</a:t>
            </a:r>
          </a:p>
        </p:txBody>
      </p:sp>
      <p:sp>
        <p:nvSpPr>
          <p:cNvPr id="12" name="TextBox 11"/>
          <p:cNvSpPr txBox="1"/>
          <p:nvPr/>
        </p:nvSpPr>
        <p:spPr>
          <a:xfrm>
            <a:off x="3480055" y="1820876"/>
            <a:ext cx="3108960" cy="502920"/>
          </a:xfrm>
          <a:prstGeom prst="rect">
            <a:avLst/>
          </a:prstGeom>
          <a:noFill/>
        </p:spPr>
        <p:txBody>
          <a:bodyPr wrap="square" lIns="0" tIns="0" rIns="0" bIns="0" anchor="t">
            <a:spAutoFit/>
          </a:bodyPr>
          <a:lstStyle/>
          <a:p>
            <a:pPr algn="ctr"/>
            <a:r>
              <a:rPr sz="1200" b="0" i="0" dirty="0">
                <a:solidFill>
                  <a:srgbClr val="8B949E"/>
                </a:solidFill>
                <a:latin typeface="Calibri"/>
              </a:rPr>
              <a:t>of pushes &amp; PRs auto-tested</a:t>
            </a:r>
          </a:p>
        </p:txBody>
      </p:sp>
      <p:sp>
        <p:nvSpPr>
          <p:cNvPr id="13" name="TextBox 12"/>
          <p:cNvSpPr txBox="1"/>
          <p:nvPr/>
        </p:nvSpPr>
        <p:spPr>
          <a:xfrm>
            <a:off x="623139" y="2037429"/>
            <a:ext cx="5394960" cy="274320"/>
          </a:xfrm>
          <a:prstGeom prst="rect">
            <a:avLst/>
          </a:prstGeom>
          <a:noFill/>
        </p:spPr>
        <p:txBody>
          <a:bodyPr wrap="square" lIns="0" tIns="0" rIns="0" bIns="0" anchor="t">
            <a:spAutoFit/>
          </a:bodyPr>
          <a:lstStyle/>
          <a:p>
            <a:pPr algn="l"/>
            <a:r>
              <a:rPr sz="1400" b="1" i="0" dirty="0">
                <a:solidFill>
                  <a:srgbClr val="2DD4BF"/>
                </a:solidFill>
                <a:latin typeface="Consolas"/>
              </a:rPr>
              <a:t>Suite coverage</a:t>
            </a:r>
          </a:p>
        </p:txBody>
      </p:sp>
      <p:sp>
        <p:nvSpPr>
          <p:cNvPr id="14" name="Rounded Rectangle 13"/>
          <p:cNvSpPr/>
          <p:nvPr/>
        </p:nvSpPr>
        <p:spPr>
          <a:xfrm>
            <a:off x="623139" y="2375757"/>
            <a:ext cx="644652" cy="310896"/>
          </a:xfrm>
          <a:prstGeom prst="roundRect">
            <a:avLst>
              <a:gd name="adj" fmla="val 50000"/>
            </a:avLst>
          </a:prstGeom>
          <a:solidFill>
            <a:srgbClr val="1C232D"/>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dirty="0">
                <a:solidFill>
                  <a:srgbClr val="58A6FF"/>
                </a:solidFill>
                <a:latin typeface="Consolas"/>
              </a:rPr>
              <a:t>basic</a:t>
            </a:r>
          </a:p>
        </p:txBody>
      </p:sp>
      <p:sp>
        <p:nvSpPr>
          <p:cNvPr id="15" name="Rounded Rectangle 14"/>
          <p:cNvSpPr/>
          <p:nvPr/>
        </p:nvSpPr>
        <p:spPr>
          <a:xfrm>
            <a:off x="1395807" y="2375757"/>
            <a:ext cx="566928" cy="310896"/>
          </a:xfrm>
          <a:prstGeom prst="roundRect">
            <a:avLst>
              <a:gd name="adj" fmla="val 50000"/>
            </a:avLst>
          </a:prstGeom>
          <a:solidFill>
            <a:srgbClr val="1C232D"/>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dirty="0">
                <a:solidFill>
                  <a:srgbClr val="58A6FF"/>
                </a:solidFill>
                <a:latin typeface="Consolas"/>
              </a:rPr>
              <a:t>edge</a:t>
            </a:r>
          </a:p>
        </p:txBody>
      </p:sp>
      <p:sp>
        <p:nvSpPr>
          <p:cNvPr id="16" name="Rounded Rectangle 15"/>
          <p:cNvSpPr/>
          <p:nvPr/>
        </p:nvSpPr>
        <p:spPr>
          <a:xfrm>
            <a:off x="2090751" y="2375757"/>
            <a:ext cx="955547" cy="310896"/>
          </a:xfrm>
          <a:prstGeom prst="roundRect">
            <a:avLst>
              <a:gd name="adj" fmla="val 50000"/>
            </a:avLst>
          </a:prstGeom>
          <a:solidFill>
            <a:srgbClr val="1C232D"/>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dirty="0">
                <a:solidFill>
                  <a:srgbClr val="58A6FF"/>
                </a:solidFill>
                <a:latin typeface="Consolas"/>
              </a:rPr>
              <a:t>negatives</a:t>
            </a:r>
          </a:p>
        </p:txBody>
      </p:sp>
      <p:sp>
        <p:nvSpPr>
          <p:cNvPr id="17" name="Rounded Rectangle 16"/>
          <p:cNvSpPr/>
          <p:nvPr/>
        </p:nvSpPr>
        <p:spPr>
          <a:xfrm>
            <a:off x="3174315" y="2375757"/>
            <a:ext cx="1033272" cy="310896"/>
          </a:xfrm>
          <a:prstGeom prst="roundRect">
            <a:avLst>
              <a:gd name="adj" fmla="val 50000"/>
            </a:avLst>
          </a:prstGeom>
          <a:solidFill>
            <a:srgbClr val="1C232D"/>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58A6FF"/>
                </a:solidFill>
                <a:latin typeface="Consolas"/>
              </a:rPr>
              <a:t>duplicates</a:t>
            </a:r>
          </a:p>
        </p:txBody>
      </p:sp>
      <p:sp>
        <p:nvSpPr>
          <p:cNvPr id="18" name="Rounded Rectangle 17"/>
          <p:cNvSpPr/>
          <p:nvPr/>
        </p:nvSpPr>
        <p:spPr>
          <a:xfrm>
            <a:off x="4335603" y="2375757"/>
            <a:ext cx="722376" cy="310896"/>
          </a:xfrm>
          <a:prstGeom prst="roundRect">
            <a:avLst>
              <a:gd name="adj" fmla="val 50000"/>
            </a:avLst>
          </a:prstGeom>
          <a:solidFill>
            <a:srgbClr val="1C232D"/>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58A6FF"/>
                </a:solidFill>
                <a:latin typeface="Consolas"/>
              </a:rPr>
              <a:t>bounds</a:t>
            </a:r>
          </a:p>
        </p:txBody>
      </p:sp>
      <p:sp>
        <p:nvSpPr>
          <p:cNvPr id="19" name="Rounded Rectangle 18"/>
          <p:cNvSpPr/>
          <p:nvPr/>
        </p:nvSpPr>
        <p:spPr>
          <a:xfrm>
            <a:off x="5185995" y="2375757"/>
            <a:ext cx="800100" cy="310896"/>
          </a:xfrm>
          <a:prstGeom prst="roundRect">
            <a:avLst>
              <a:gd name="adj" fmla="val 50000"/>
            </a:avLst>
          </a:prstGeom>
          <a:solidFill>
            <a:srgbClr val="1C232D"/>
          </a:solidFill>
          <a:ln w="12700">
            <a:solidFill>
              <a:srgbClr val="58A6FF"/>
            </a:solidFill>
          </a:ln>
          <a:effectLst/>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r>
              <a:rPr sz="1100" b="0">
                <a:solidFill>
                  <a:srgbClr val="58A6FF"/>
                </a:solidFill>
                <a:latin typeface="Consolas"/>
              </a:rPr>
              <a:t>special</a:t>
            </a:r>
          </a:p>
        </p:txBody>
      </p:sp>
      <p:sp>
        <p:nvSpPr>
          <p:cNvPr id="28" name="TextBox 27"/>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0</a:t>
            </a:r>
            <a:r>
              <a:rPr lang="en-US" sz="1000" b="0" i="0" dirty="0">
                <a:solidFill>
                  <a:srgbClr val="8B949E"/>
                </a:solidFill>
                <a:latin typeface="Consolas"/>
              </a:rPr>
              <a:t>7</a:t>
            </a:r>
            <a:r>
              <a:rPr sz="1000" b="0" i="0" dirty="0">
                <a:solidFill>
                  <a:srgbClr val="8B949E"/>
                </a:solidFill>
                <a:latin typeface="Consolas"/>
              </a:rPr>
              <a:t> / 1</a:t>
            </a:r>
            <a:r>
              <a:rPr lang="en-US" sz="1000" b="0" i="0" dirty="0">
                <a:solidFill>
                  <a:srgbClr val="8B949E"/>
                </a:solidFill>
                <a:latin typeface="Consolas"/>
              </a:rPr>
              <a:t>5</a:t>
            </a:r>
            <a:endParaRPr sz="1000" b="0" i="0" dirty="0">
              <a:solidFill>
                <a:srgbClr val="8B949E"/>
              </a:solidFill>
              <a:latin typeface="Consolas"/>
            </a:endParaRPr>
          </a:p>
        </p:txBody>
      </p:sp>
      <p:pic>
        <p:nvPicPr>
          <p:cNvPr id="31" name="Picture 30">
            <a:extLst>
              <a:ext uri="{FF2B5EF4-FFF2-40B4-BE49-F238E27FC236}">
                <a16:creationId xmlns:a16="http://schemas.microsoft.com/office/drawing/2014/main" id="{F506483A-D27A-93CB-616D-A4FF56002B33}"/>
              </a:ext>
            </a:extLst>
          </p:cNvPr>
          <p:cNvPicPr>
            <a:picLocks noChangeAspect="1"/>
          </p:cNvPicPr>
          <p:nvPr/>
        </p:nvPicPr>
        <p:blipFill>
          <a:blip r:embed="rId3"/>
          <a:stretch>
            <a:fillRect/>
          </a:stretch>
        </p:blipFill>
        <p:spPr>
          <a:xfrm>
            <a:off x="6798328" y="1110727"/>
            <a:ext cx="4770533" cy="1265030"/>
          </a:xfrm>
          <a:prstGeom prst="rect">
            <a:avLst/>
          </a:prstGeom>
        </p:spPr>
      </p:pic>
      <p:pic>
        <p:nvPicPr>
          <p:cNvPr id="33" name="Picture 32">
            <a:extLst>
              <a:ext uri="{FF2B5EF4-FFF2-40B4-BE49-F238E27FC236}">
                <a16:creationId xmlns:a16="http://schemas.microsoft.com/office/drawing/2014/main" id="{AC914516-5EF0-57EF-7258-C55494F920B9}"/>
              </a:ext>
            </a:extLst>
          </p:cNvPr>
          <p:cNvPicPr>
            <a:picLocks noChangeAspect="1"/>
          </p:cNvPicPr>
          <p:nvPr/>
        </p:nvPicPr>
        <p:blipFill>
          <a:blip r:embed="rId4"/>
          <a:stretch>
            <a:fillRect/>
          </a:stretch>
        </p:blipFill>
        <p:spPr>
          <a:xfrm>
            <a:off x="6548284" y="3055527"/>
            <a:ext cx="3810066" cy="3632183"/>
          </a:xfrm>
          <a:prstGeom prst="rect">
            <a:avLst/>
          </a:prstGeom>
        </p:spPr>
      </p:pic>
      <p:pic>
        <p:nvPicPr>
          <p:cNvPr id="35" name="Picture 34">
            <a:extLst>
              <a:ext uri="{FF2B5EF4-FFF2-40B4-BE49-F238E27FC236}">
                <a16:creationId xmlns:a16="http://schemas.microsoft.com/office/drawing/2014/main" id="{AF38A907-90B5-DD72-4492-656581F50A0B}"/>
              </a:ext>
            </a:extLst>
          </p:cNvPr>
          <p:cNvPicPr>
            <a:picLocks noChangeAspect="1"/>
          </p:cNvPicPr>
          <p:nvPr/>
        </p:nvPicPr>
        <p:blipFill>
          <a:blip r:embed="rId5"/>
          <a:stretch>
            <a:fillRect/>
          </a:stretch>
        </p:blipFill>
        <p:spPr>
          <a:xfrm>
            <a:off x="1833650" y="3055528"/>
            <a:ext cx="3810066" cy="363218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r>
              <a:rPr sz="1200" b="1" i="0">
                <a:solidFill>
                  <a:srgbClr val="58A6FF"/>
                </a:solidFill>
                <a:latin typeface="Consolas"/>
              </a:rPr>
              <a:t>SECTION 05 · PROJECT B</a:t>
            </a:r>
          </a:p>
        </p:txBody>
      </p:sp>
      <p:sp>
        <p:nvSpPr>
          <p:cNvPr id="4" name="TextBox 3"/>
          <p:cNvSpPr txBox="1"/>
          <p:nvPr/>
        </p:nvSpPr>
        <p:spPr>
          <a:xfrm>
            <a:off x="548640" y="658368"/>
            <a:ext cx="11064240" cy="461665"/>
          </a:xfrm>
          <a:prstGeom prst="rect">
            <a:avLst/>
          </a:prstGeom>
          <a:noFill/>
        </p:spPr>
        <p:txBody>
          <a:bodyPr wrap="square" lIns="0" tIns="0" rIns="0" bIns="0" anchor="t">
            <a:spAutoFit/>
          </a:bodyPr>
          <a:lstStyle/>
          <a:p>
            <a:pPr algn="l"/>
            <a:r>
              <a:rPr sz="3000" b="1" i="0" dirty="0">
                <a:solidFill>
                  <a:srgbClr val="E6EDF3"/>
                </a:solidFill>
                <a:latin typeface="Consolas"/>
              </a:rPr>
              <a:t>CSV Mini Database </a:t>
            </a:r>
          </a:p>
        </p:txBody>
      </p:sp>
      <p:sp>
        <p:nvSpPr>
          <p:cNvPr id="5" name="Rounded Rectangle 4"/>
          <p:cNvSpPr/>
          <p:nvPr/>
        </p:nvSpPr>
        <p:spPr>
          <a:xfrm>
            <a:off x="548640" y="1517904"/>
            <a:ext cx="11091672" cy="713232"/>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645920"/>
            <a:ext cx="10698480" cy="430887"/>
          </a:xfrm>
          <a:prstGeom prst="rect">
            <a:avLst/>
          </a:prstGeom>
          <a:noFill/>
        </p:spPr>
        <p:txBody>
          <a:bodyPr wrap="square" lIns="0" tIns="0" rIns="0" bIns="0" anchor="t">
            <a:spAutoFit/>
          </a:bodyPr>
          <a:lstStyle/>
          <a:p>
            <a:pPr algn="l"/>
            <a:r>
              <a:rPr sz="1400" b="1" i="0" dirty="0">
                <a:solidFill>
                  <a:srgbClr val="2DD4BF"/>
                </a:solidFill>
                <a:latin typeface="Calibri"/>
              </a:rPr>
              <a:t>Goal:  </a:t>
            </a:r>
            <a:r>
              <a:rPr sz="1400" b="0" i="0" dirty="0">
                <a:solidFill>
                  <a:srgbClr val="E6EDF3"/>
                </a:solidFill>
                <a:latin typeface="Calibri"/>
              </a:rPr>
              <a:t>a compact database engine: ingest CSV files into typed in-memory tables and run SQL-like queries  filtering, projection, aggregation, GROUP BY, ORDER BY, JOIN.</a:t>
            </a:r>
          </a:p>
        </p:txBody>
      </p:sp>
      <p:sp>
        <p:nvSpPr>
          <p:cNvPr id="39" name="TextBox 38"/>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0</a:t>
            </a:r>
            <a:r>
              <a:rPr lang="en-US" sz="1000" b="0" i="0" dirty="0">
                <a:solidFill>
                  <a:srgbClr val="8B949E"/>
                </a:solidFill>
                <a:latin typeface="Consolas"/>
              </a:rPr>
              <a:t>8</a:t>
            </a:r>
            <a:r>
              <a:rPr sz="1000" b="0" i="0" dirty="0">
                <a:solidFill>
                  <a:srgbClr val="8B949E"/>
                </a:solidFill>
                <a:latin typeface="Consolas"/>
              </a:rPr>
              <a:t> / 1</a:t>
            </a:r>
            <a:r>
              <a:rPr lang="en-US" sz="1000" b="0" i="0" dirty="0">
                <a:solidFill>
                  <a:srgbClr val="8B949E"/>
                </a:solidFill>
                <a:latin typeface="Consolas"/>
              </a:rPr>
              <a:t>5</a:t>
            </a:r>
            <a:endParaRPr sz="1000" b="0" i="0" dirty="0">
              <a:solidFill>
                <a:srgbClr val="8B949E"/>
              </a:solidFill>
              <a:latin typeface="Consolas"/>
            </a:endParaRPr>
          </a:p>
        </p:txBody>
      </p:sp>
      <p:sp>
        <p:nvSpPr>
          <p:cNvPr id="40" name="TextBox 39"/>
          <p:cNvSpPr txBox="1"/>
          <p:nvPr/>
        </p:nvSpPr>
        <p:spPr>
          <a:xfrm>
            <a:off x="548640" y="6473952"/>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pic>
        <p:nvPicPr>
          <p:cNvPr id="48" name="Picture 47">
            <a:extLst>
              <a:ext uri="{FF2B5EF4-FFF2-40B4-BE49-F238E27FC236}">
                <a16:creationId xmlns:a16="http://schemas.microsoft.com/office/drawing/2014/main" id="{A07D9919-815A-C698-2E76-A26889205995}"/>
              </a:ext>
            </a:extLst>
          </p:cNvPr>
          <p:cNvPicPr>
            <a:picLocks noChangeAspect="1"/>
          </p:cNvPicPr>
          <p:nvPr/>
        </p:nvPicPr>
        <p:blipFill>
          <a:blip r:embed="rId3"/>
          <a:stretch>
            <a:fillRect/>
          </a:stretch>
        </p:blipFill>
        <p:spPr>
          <a:xfrm>
            <a:off x="947990" y="2359152"/>
            <a:ext cx="10265540" cy="868798"/>
          </a:xfrm>
          <a:prstGeom prst="rect">
            <a:avLst/>
          </a:prstGeom>
        </p:spPr>
      </p:pic>
      <p:pic>
        <p:nvPicPr>
          <p:cNvPr id="50" name="Picture 49">
            <a:extLst>
              <a:ext uri="{FF2B5EF4-FFF2-40B4-BE49-F238E27FC236}">
                <a16:creationId xmlns:a16="http://schemas.microsoft.com/office/drawing/2014/main" id="{49206B54-9489-4F32-5DD1-93395CD693A3}"/>
              </a:ext>
            </a:extLst>
          </p:cNvPr>
          <p:cNvPicPr>
            <a:picLocks noChangeAspect="1"/>
          </p:cNvPicPr>
          <p:nvPr/>
        </p:nvPicPr>
        <p:blipFill>
          <a:blip r:embed="rId4"/>
          <a:stretch>
            <a:fillRect/>
          </a:stretch>
        </p:blipFill>
        <p:spPr>
          <a:xfrm>
            <a:off x="942046" y="3595371"/>
            <a:ext cx="10265540" cy="2511160"/>
          </a:xfrm>
          <a:prstGeom prst="rect">
            <a:avLst/>
          </a:prstGeom>
        </p:spPr>
      </p:pic>
      <p:sp>
        <p:nvSpPr>
          <p:cNvPr id="51" name="TextBox 50">
            <a:extLst>
              <a:ext uri="{FF2B5EF4-FFF2-40B4-BE49-F238E27FC236}">
                <a16:creationId xmlns:a16="http://schemas.microsoft.com/office/drawing/2014/main" id="{B0123BC2-C71F-3C6A-0279-E510C61EDC12}"/>
              </a:ext>
            </a:extLst>
          </p:cNvPr>
          <p:cNvSpPr txBox="1"/>
          <p:nvPr/>
        </p:nvSpPr>
        <p:spPr>
          <a:xfrm>
            <a:off x="5730240" y="804562"/>
            <a:ext cx="5212080" cy="169277"/>
          </a:xfrm>
          <a:prstGeom prst="rect">
            <a:avLst/>
          </a:prstGeom>
          <a:noFill/>
        </p:spPr>
        <p:txBody>
          <a:bodyPr wrap="square" lIns="0" tIns="0" rIns="0" bIns="0" anchor="t">
            <a:spAutoFit/>
          </a:bodyPr>
          <a:lstStyle/>
          <a:p>
            <a:r>
              <a:rPr lang="en-US" sz="1100" dirty="0">
                <a:solidFill>
                  <a:srgbClr val="58A6FF"/>
                </a:solidFill>
                <a:latin typeface="Consolas"/>
              </a:rPr>
              <a:t>URL: </a:t>
            </a:r>
            <a:r>
              <a:rPr lang="en-US" sz="1100" dirty="0">
                <a:solidFill>
                  <a:srgbClr val="58A6FF"/>
                </a:solidFill>
                <a:latin typeface="Consolas"/>
                <a:hlinkClick r:id="rId5"/>
              </a:rPr>
              <a:t>CSV Mini Database Repository</a:t>
            </a:r>
            <a:endParaRPr sz="1100" dirty="0">
              <a:solidFill>
                <a:srgbClr val="58A6FF"/>
              </a:solidFill>
              <a:latin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r>
              <a:rPr sz="1200" b="1" i="0">
                <a:solidFill>
                  <a:srgbClr val="58A6FF"/>
                </a:solidFill>
                <a:latin typeface="Consolas"/>
              </a:rPr>
              <a:t>SECTION 05 · PROJECT B</a:t>
            </a:r>
          </a:p>
        </p:txBody>
      </p:sp>
      <p:sp>
        <p:nvSpPr>
          <p:cNvPr id="4" name="TextBox 3"/>
          <p:cNvSpPr txBox="1"/>
          <p:nvPr/>
        </p:nvSpPr>
        <p:spPr>
          <a:xfrm>
            <a:off x="548640" y="658368"/>
            <a:ext cx="11064240" cy="461665"/>
          </a:xfrm>
          <a:prstGeom prst="rect">
            <a:avLst/>
          </a:prstGeom>
          <a:noFill/>
        </p:spPr>
        <p:txBody>
          <a:bodyPr wrap="square" lIns="0" tIns="0" rIns="0" bIns="0" anchor="t">
            <a:spAutoFit/>
          </a:bodyPr>
          <a:lstStyle/>
          <a:p>
            <a:pPr algn="l"/>
            <a:r>
              <a:rPr sz="3000" b="1" i="0" dirty="0">
                <a:solidFill>
                  <a:srgbClr val="E6EDF3"/>
                </a:solidFill>
                <a:latin typeface="Consolas"/>
              </a:rPr>
              <a:t>The Query </a:t>
            </a:r>
            <a:r>
              <a:rPr lang="en-US" sz="3000" b="1" dirty="0">
                <a:solidFill>
                  <a:srgbClr val="E6EDF3"/>
                </a:solidFill>
                <a:latin typeface="Consolas"/>
              </a:rPr>
              <a:t>in </a:t>
            </a:r>
            <a:r>
              <a:rPr sz="3000" b="1" i="0" dirty="0">
                <a:solidFill>
                  <a:srgbClr val="E6EDF3"/>
                </a:solidFill>
                <a:latin typeface="Consolas"/>
              </a:rPr>
              <a:t>Action</a:t>
            </a:r>
          </a:p>
        </p:txBody>
      </p:sp>
      <p:sp>
        <p:nvSpPr>
          <p:cNvPr id="18" name="TextBox 17"/>
          <p:cNvSpPr txBox="1"/>
          <p:nvPr/>
        </p:nvSpPr>
        <p:spPr>
          <a:xfrm>
            <a:off x="10881360" y="6473952"/>
            <a:ext cx="822960" cy="153888"/>
          </a:xfrm>
          <a:prstGeom prst="rect">
            <a:avLst/>
          </a:prstGeom>
          <a:noFill/>
        </p:spPr>
        <p:txBody>
          <a:bodyPr wrap="square" lIns="0" tIns="0" rIns="0" bIns="0" anchor="t">
            <a:spAutoFit/>
          </a:bodyPr>
          <a:lstStyle/>
          <a:p>
            <a:pPr algn="r"/>
            <a:r>
              <a:rPr lang="en-US" sz="1000" dirty="0">
                <a:solidFill>
                  <a:srgbClr val="8B949E"/>
                </a:solidFill>
                <a:latin typeface="Consolas"/>
              </a:rPr>
              <a:t>09</a:t>
            </a:r>
            <a:r>
              <a:rPr sz="1000" b="0" i="0" dirty="0">
                <a:solidFill>
                  <a:srgbClr val="8B949E"/>
                </a:solidFill>
                <a:latin typeface="Consolas"/>
              </a:rPr>
              <a:t> / 1</a:t>
            </a:r>
            <a:r>
              <a:rPr lang="en-US" sz="1000" b="0" i="0" dirty="0">
                <a:solidFill>
                  <a:srgbClr val="8B949E"/>
                </a:solidFill>
                <a:latin typeface="Consolas"/>
              </a:rPr>
              <a:t>5</a:t>
            </a:r>
            <a:endParaRPr sz="1000" b="0" i="0" dirty="0">
              <a:solidFill>
                <a:srgbClr val="8B949E"/>
              </a:solidFill>
              <a:latin typeface="Consolas"/>
            </a:endParaRPr>
          </a:p>
        </p:txBody>
      </p:sp>
      <p:sp>
        <p:nvSpPr>
          <p:cNvPr id="19" name="TextBox 18"/>
          <p:cNvSpPr txBox="1"/>
          <p:nvPr/>
        </p:nvSpPr>
        <p:spPr>
          <a:xfrm>
            <a:off x="548640" y="6473952"/>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pic>
        <p:nvPicPr>
          <p:cNvPr id="25" name="Picture 24">
            <a:extLst>
              <a:ext uri="{FF2B5EF4-FFF2-40B4-BE49-F238E27FC236}">
                <a16:creationId xmlns:a16="http://schemas.microsoft.com/office/drawing/2014/main" id="{3D2BCAF9-90D6-1762-4BB6-2232E4B52B0B}"/>
              </a:ext>
            </a:extLst>
          </p:cNvPr>
          <p:cNvPicPr>
            <a:picLocks noChangeAspect="1"/>
          </p:cNvPicPr>
          <p:nvPr/>
        </p:nvPicPr>
        <p:blipFill>
          <a:blip r:embed="rId3"/>
          <a:stretch>
            <a:fillRect/>
          </a:stretch>
        </p:blipFill>
        <p:spPr>
          <a:xfrm>
            <a:off x="386696" y="1329231"/>
            <a:ext cx="4881849" cy="3746881"/>
          </a:xfrm>
          <a:prstGeom prst="rect">
            <a:avLst/>
          </a:prstGeom>
        </p:spPr>
      </p:pic>
      <p:pic>
        <p:nvPicPr>
          <p:cNvPr id="27" name="Picture 26">
            <a:extLst>
              <a:ext uri="{FF2B5EF4-FFF2-40B4-BE49-F238E27FC236}">
                <a16:creationId xmlns:a16="http://schemas.microsoft.com/office/drawing/2014/main" id="{EC40B2F1-0609-1779-14F0-EC179364C19D}"/>
              </a:ext>
            </a:extLst>
          </p:cNvPr>
          <p:cNvPicPr>
            <a:picLocks noChangeAspect="1"/>
          </p:cNvPicPr>
          <p:nvPr/>
        </p:nvPicPr>
        <p:blipFill>
          <a:blip r:embed="rId4"/>
          <a:stretch>
            <a:fillRect/>
          </a:stretch>
        </p:blipFill>
        <p:spPr>
          <a:xfrm>
            <a:off x="3496227" y="3044508"/>
            <a:ext cx="5199240" cy="3360835"/>
          </a:xfrm>
          <a:prstGeom prst="rect">
            <a:avLst/>
          </a:prstGeom>
        </p:spPr>
      </p:pic>
      <p:pic>
        <p:nvPicPr>
          <p:cNvPr id="29" name="Picture 28">
            <a:extLst>
              <a:ext uri="{FF2B5EF4-FFF2-40B4-BE49-F238E27FC236}">
                <a16:creationId xmlns:a16="http://schemas.microsoft.com/office/drawing/2014/main" id="{FE3F697F-8A71-1075-F7F1-A1C81EBDBA98}"/>
              </a:ext>
            </a:extLst>
          </p:cNvPr>
          <p:cNvPicPr>
            <a:picLocks noChangeAspect="1"/>
          </p:cNvPicPr>
          <p:nvPr/>
        </p:nvPicPr>
        <p:blipFill>
          <a:blip r:embed="rId5"/>
          <a:stretch>
            <a:fillRect/>
          </a:stretch>
        </p:blipFill>
        <p:spPr>
          <a:xfrm>
            <a:off x="7201696" y="732201"/>
            <a:ext cx="4603302" cy="410673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r>
              <a:rPr sz="1200" b="1" i="0">
                <a:solidFill>
                  <a:srgbClr val="58A6FF"/>
                </a:solidFill>
                <a:latin typeface="Consolas"/>
              </a:rPr>
              <a:t>SECTION 05 · PROJECT B</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000" b="1" i="0">
                <a:solidFill>
                  <a:srgbClr val="E6EDF3"/>
                </a:solidFill>
                <a:latin typeface="Consolas"/>
              </a:rPr>
              <a:t>Data Design</a:t>
            </a:r>
          </a:p>
        </p:txBody>
      </p:sp>
      <p:sp>
        <p:nvSpPr>
          <p:cNvPr id="5" name="Rounded Rectangle 4"/>
          <p:cNvSpPr/>
          <p:nvPr/>
        </p:nvSpPr>
        <p:spPr>
          <a:xfrm>
            <a:off x="548640" y="1554480"/>
            <a:ext cx="5440680" cy="148132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700784"/>
            <a:ext cx="5038344" cy="274320"/>
          </a:xfrm>
          <a:prstGeom prst="rect">
            <a:avLst/>
          </a:prstGeom>
          <a:noFill/>
        </p:spPr>
        <p:txBody>
          <a:bodyPr wrap="square" lIns="0" tIns="0" rIns="0" bIns="0" anchor="t">
            <a:spAutoFit/>
          </a:bodyPr>
          <a:lstStyle/>
          <a:p>
            <a:pPr algn="l"/>
            <a:r>
              <a:rPr sz="1350" b="1" i="0">
                <a:solidFill>
                  <a:srgbClr val="58A6FF"/>
                </a:solidFill>
                <a:latin typeface="Consolas"/>
              </a:rPr>
              <a:t>Typed values</a:t>
            </a:r>
          </a:p>
        </p:txBody>
      </p:sp>
      <p:sp>
        <p:nvSpPr>
          <p:cNvPr id="7" name="TextBox 6"/>
          <p:cNvSpPr txBox="1"/>
          <p:nvPr/>
        </p:nvSpPr>
        <p:spPr>
          <a:xfrm>
            <a:off x="749808" y="2029967"/>
            <a:ext cx="5056632" cy="987552"/>
          </a:xfrm>
          <a:prstGeom prst="rect">
            <a:avLst/>
          </a:prstGeom>
          <a:noFill/>
        </p:spPr>
        <p:txBody>
          <a:bodyPr wrap="square" lIns="0" tIns="0" rIns="0" bIns="0" anchor="t">
            <a:spAutoFit/>
          </a:bodyPr>
          <a:lstStyle/>
          <a:p>
            <a:pPr algn="l">
              <a:lnSpc>
                <a:spcPct val="106000"/>
              </a:lnSpc>
              <a:spcAft>
                <a:spcPts val="500"/>
              </a:spcAft>
            </a:pPr>
            <a:r>
              <a:rPr sz="1250" b="1" i="0">
                <a:solidFill>
                  <a:srgbClr val="58A6FF"/>
                </a:solidFill>
                <a:latin typeface="Calibri"/>
              </a:rPr>
              <a:t>▸ </a:t>
            </a:r>
            <a:r>
              <a:rPr sz="1250" b="1" i="0">
                <a:solidFill>
                  <a:srgbClr val="E6EDF3"/>
                </a:solidFill>
                <a:latin typeface="Calibri"/>
              </a:rPr>
              <a:t>Value = </a:t>
            </a:r>
            <a:r>
              <a:rPr sz="1250" b="0" i="0">
                <a:solidFill>
                  <a:srgbClr val="E6EDF3"/>
                </a:solidFill>
                <a:latin typeface="Calibri"/>
              </a:rPr>
              <a:t>tagged variant: null · bool · int64 · double · string</a:t>
            </a:r>
          </a:p>
          <a:p>
            <a:pPr algn="l">
              <a:lnSpc>
                <a:spcPct val="106000"/>
              </a:lnSpc>
              <a:spcAft>
                <a:spcPts val="500"/>
              </a:spcAft>
            </a:pPr>
            <a:r>
              <a:rPr sz="1250" b="1" i="0">
                <a:solidFill>
                  <a:srgbClr val="58A6FF"/>
                </a:solidFill>
                <a:latin typeface="Calibri"/>
              </a:rPr>
              <a:t>▸ </a:t>
            </a:r>
            <a:r>
              <a:rPr sz="1250" b="1" i="0">
                <a:solidFill>
                  <a:srgbClr val="E6EDF3"/>
                </a:solidFill>
                <a:latin typeface="Calibri"/>
              </a:rPr>
              <a:t>SQL-style comparisons; </a:t>
            </a:r>
            <a:r>
              <a:rPr sz="1250" b="0" i="0">
                <a:solidFill>
                  <a:srgbClr val="E6EDF3"/>
                </a:solidFill>
                <a:latin typeface="Calibri"/>
              </a:rPr>
              <a:t>NULL never matches</a:t>
            </a:r>
          </a:p>
        </p:txBody>
      </p:sp>
      <p:sp>
        <p:nvSpPr>
          <p:cNvPr id="8" name="Rounded Rectangle 7"/>
          <p:cNvSpPr/>
          <p:nvPr/>
        </p:nvSpPr>
        <p:spPr>
          <a:xfrm>
            <a:off x="6199632" y="1554480"/>
            <a:ext cx="5440680" cy="148132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00784"/>
            <a:ext cx="5038344" cy="274320"/>
          </a:xfrm>
          <a:prstGeom prst="rect">
            <a:avLst/>
          </a:prstGeom>
          <a:noFill/>
        </p:spPr>
        <p:txBody>
          <a:bodyPr wrap="square" lIns="0" tIns="0" rIns="0" bIns="0" anchor="t">
            <a:spAutoFit/>
          </a:bodyPr>
          <a:lstStyle/>
          <a:p>
            <a:pPr algn="l"/>
            <a:r>
              <a:rPr sz="1350" b="1" i="0">
                <a:solidFill>
                  <a:srgbClr val="3FB950"/>
                </a:solidFill>
                <a:latin typeface="Consolas"/>
              </a:rPr>
              <a:t>Schema inference</a:t>
            </a:r>
          </a:p>
        </p:txBody>
      </p:sp>
      <p:sp>
        <p:nvSpPr>
          <p:cNvPr id="10" name="TextBox 9"/>
          <p:cNvSpPr txBox="1"/>
          <p:nvPr/>
        </p:nvSpPr>
        <p:spPr>
          <a:xfrm>
            <a:off x="6400800" y="2029967"/>
            <a:ext cx="5056632" cy="987552"/>
          </a:xfrm>
          <a:prstGeom prst="rect">
            <a:avLst/>
          </a:prstGeom>
          <a:noFill/>
        </p:spPr>
        <p:txBody>
          <a:bodyPr wrap="square" lIns="0" tIns="0" rIns="0" bIns="0" anchor="t">
            <a:spAutoFit/>
          </a:bodyPr>
          <a:lstStyle/>
          <a:p>
            <a:pPr algn="l">
              <a:lnSpc>
                <a:spcPct val="106000"/>
              </a:lnSpc>
              <a:spcAft>
                <a:spcPts val="500"/>
              </a:spcAft>
            </a:pPr>
            <a:r>
              <a:rPr sz="1250" b="1" i="0">
                <a:solidFill>
                  <a:srgbClr val="3FB950"/>
                </a:solidFill>
                <a:latin typeface="Calibri"/>
              </a:rPr>
              <a:t>▸ </a:t>
            </a:r>
            <a:r>
              <a:rPr sz="1250" b="1" i="0">
                <a:solidFill>
                  <a:srgbClr val="E6EDF3"/>
                </a:solidFill>
                <a:latin typeface="Calibri"/>
              </a:rPr>
              <a:t>Scan all values: </a:t>
            </a:r>
            <a:r>
              <a:rPr sz="1250" b="0" i="0">
                <a:solidFill>
                  <a:srgbClr val="E6EDF3"/>
                </a:solidFill>
                <a:latin typeface="Calibri"/>
              </a:rPr>
              <a:t>int &gt; float &gt; bool &gt; string</a:t>
            </a:r>
          </a:p>
          <a:p>
            <a:pPr algn="l">
              <a:lnSpc>
                <a:spcPct val="106000"/>
              </a:lnSpc>
              <a:spcAft>
                <a:spcPts val="500"/>
              </a:spcAft>
            </a:pPr>
            <a:r>
              <a:rPr sz="1250" b="1" i="0">
                <a:solidFill>
                  <a:srgbClr val="3FB950"/>
                </a:solidFill>
                <a:latin typeface="Calibri"/>
              </a:rPr>
              <a:t>▸ </a:t>
            </a:r>
            <a:r>
              <a:rPr sz="1250" b="1" i="0">
                <a:solidFill>
                  <a:srgbClr val="E6EDF3"/>
                </a:solidFill>
                <a:latin typeface="Calibri"/>
              </a:rPr>
              <a:t>Iris → </a:t>
            </a:r>
            <a:r>
              <a:rPr sz="1250" b="0" i="0">
                <a:solidFill>
                  <a:srgbClr val="E6EDF3"/>
                </a:solidFill>
                <a:latin typeface="Calibri"/>
              </a:rPr>
              <a:t>Id:int, 4 measures:float, Species:string</a:t>
            </a:r>
          </a:p>
        </p:txBody>
      </p:sp>
      <p:sp>
        <p:nvSpPr>
          <p:cNvPr id="11" name="Rounded Rectangle 10"/>
          <p:cNvSpPr/>
          <p:nvPr/>
        </p:nvSpPr>
        <p:spPr>
          <a:xfrm>
            <a:off x="548640" y="3200400"/>
            <a:ext cx="5440680" cy="148132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3346704"/>
            <a:ext cx="5038344" cy="274320"/>
          </a:xfrm>
          <a:prstGeom prst="rect">
            <a:avLst/>
          </a:prstGeom>
          <a:noFill/>
        </p:spPr>
        <p:txBody>
          <a:bodyPr wrap="square" lIns="0" tIns="0" rIns="0" bIns="0" anchor="t">
            <a:spAutoFit/>
          </a:bodyPr>
          <a:lstStyle/>
          <a:p>
            <a:pPr algn="l"/>
            <a:r>
              <a:rPr sz="1350" b="1" i="0">
                <a:solidFill>
                  <a:srgbClr val="BC8CFF"/>
                </a:solidFill>
                <a:latin typeface="Consolas"/>
              </a:rPr>
              <a:t>Row storage</a:t>
            </a:r>
          </a:p>
        </p:txBody>
      </p:sp>
      <p:sp>
        <p:nvSpPr>
          <p:cNvPr id="13" name="TextBox 12"/>
          <p:cNvSpPr txBox="1"/>
          <p:nvPr/>
        </p:nvSpPr>
        <p:spPr>
          <a:xfrm>
            <a:off x="749808" y="3675887"/>
            <a:ext cx="5056632" cy="667170"/>
          </a:xfrm>
          <a:prstGeom prst="rect">
            <a:avLst/>
          </a:prstGeom>
          <a:noFill/>
        </p:spPr>
        <p:txBody>
          <a:bodyPr wrap="square" lIns="0" tIns="0" rIns="0" bIns="0" anchor="t">
            <a:spAutoFit/>
          </a:bodyPr>
          <a:lstStyle/>
          <a:p>
            <a:pPr algn="l">
              <a:lnSpc>
                <a:spcPct val="106000"/>
              </a:lnSpc>
              <a:spcAft>
                <a:spcPts val="500"/>
              </a:spcAft>
            </a:pPr>
            <a:r>
              <a:rPr sz="1250" b="1" i="0" dirty="0">
                <a:solidFill>
                  <a:srgbClr val="BC8CFF"/>
                </a:solidFill>
                <a:latin typeface="Calibri"/>
              </a:rPr>
              <a:t>▸ </a:t>
            </a:r>
            <a:r>
              <a:rPr sz="1250" b="1" i="0" dirty="0">
                <a:solidFill>
                  <a:srgbClr val="E6EDF3"/>
                </a:solidFill>
                <a:latin typeface="Calibri"/>
              </a:rPr>
              <a:t>Row-major </a:t>
            </a:r>
            <a:r>
              <a:rPr sz="1250" b="0" i="0" dirty="0">
                <a:solidFill>
                  <a:srgbClr val="E6EDF3"/>
                </a:solidFill>
                <a:latin typeface="Calibri"/>
              </a:rPr>
              <a:t>vector&lt;vector&lt;Value&gt;&gt;</a:t>
            </a:r>
          </a:p>
          <a:p>
            <a:pPr algn="l">
              <a:lnSpc>
                <a:spcPct val="106000"/>
              </a:lnSpc>
              <a:spcAft>
                <a:spcPts val="500"/>
              </a:spcAft>
            </a:pPr>
            <a:r>
              <a:rPr sz="1250" b="1" i="0" dirty="0">
                <a:solidFill>
                  <a:srgbClr val="BC8CFF"/>
                </a:solidFill>
                <a:latin typeface="Calibri"/>
              </a:rPr>
              <a:t>▸ </a:t>
            </a:r>
            <a:r>
              <a:rPr sz="1250" b="1" i="0" dirty="0">
                <a:solidFill>
                  <a:srgbClr val="E6EDF3"/>
                </a:solidFill>
                <a:latin typeface="Calibri"/>
              </a:rPr>
              <a:t>Simple &amp; cache-friendly for SELECT *; </a:t>
            </a:r>
            <a:r>
              <a:rPr sz="1250" b="0" i="0" dirty="0">
                <a:solidFill>
                  <a:srgbClr val="E6EDF3"/>
                </a:solidFill>
                <a:latin typeface="Calibri"/>
              </a:rPr>
              <a:t>column</a:t>
            </a:r>
            <a:r>
              <a:rPr lang="en-US" sz="1250" b="0" i="0" dirty="0">
                <a:solidFill>
                  <a:srgbClr val="E6EDF3"/>
                </a:solidFill>
                <a:latin typeface="Calibri"/>
              </a:rPr>
              <a:t>s</a:t>
            </a:r>
            <a:r>
              <a:rPr sz="1250" b="0" i="0" dirty="0">
                <a:solidFill>
                  <a:srgbClr val="E6EDF3"/>
                </a:solidFill>
                <a:latin typeface="Calibri"/>
              </a:rPr>
              <a:t> would be better for single-column aggregates</a:t>
            </a:r>
          </a:p>
        </p:txBody>
      </p:sp>
      <p:sp>
        <p:nvSpPr>
          <p:cNvPr id="14" name="Rounded Rectangle 13"/>
          <p:cNvSpPr/>
          <p:nvPr/>
        </p:nvSpPr>
        <p:spPr>
          <a:xfrm>
            <a:off x="6199632" y="3200400"/>
            <a:ext cx="5440680" cy="1481328"/>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3346704"/>
            <a:ext cx="5038344" cy="274320"/>
          </a:xfrm>
          <a:prstGeom prst="rect">
            <a:avLst/>
          </a:prstGeom>
          <a:noFill/>
        </p:spPr>
        <p:txBody>
          <a:bodyPr wrap="square" lIns="0" tIns="0" rIns="0" bIns="0" anchor="t">
            <a:spAutoFit/>
          </a:bodyPr>
          <a:lstStyle/>
          <a:p>
            <a:pPr algn="l"/>
            <a:r>
              <a:rPr sz="1350" b="1" i="0">
                <a:solidFill>
                  <a:srgbClr val="2DD4BF"/>
                </a:solidFill>
                <a:latin typeface="Consolas"/>
              </a:rPr>
              <a:t>Hash index</a:t>
            </a:r>
          </a:p>
        </p:txBody>
      </p:sp>
      <p:sp>
        <p:nvSpPr>
          <p:cNvPr id="16" name="TextBox 15"/>
          <p:cNvSpPr txBox="1"/>
          <p:nvPr/>
        </p:nvSpPr>
        <p:spPr>
          <a:xfrm>
            <a:off x="6400800" y="3675887"/>
            <a:ext cx="5056632" cy="987552"/>
          </a:xfrm>
          <a:prstGeom prst="rect">
            <a:avLst/>
          </a:prstGeom>
          <a:noFill/>
        </p:spPr>
        <p:txBody>
          <a:bodyPr wrap="square" lIns="0" tIns="0" rIns="0" bIns="0" anchor="t">
            <a:spAutoFit/>
          </a:bodyPr>
          <a:lstStyle/>
          <a:p>
            <a:pPr algn="l">
              <a:lnSpc>
                <a:spcPct val="106000"/>
              </a:lnSpc>
              <a:spcAft>
                <a:spcPts val="500"/>
              </a:spcAft>
            </a:pPr>
            <a:r>
              <a:rPr sz="1250" b="1" i="0">
                <a:solidFill>
                  <a:srgbClr val="2DD4BF"/>
                </a:solidFill>
                <a:latin typeface="Calibri"/>
              </a:rPr>
              <a:t>▸ </a:t>
            </a:r>
            <a:r>
              <a:rPr sz="1250" b="1" i="0">
                <a:solidFill>
                  <a:srgbClr val="E6EDF3"/>
                </a:solidFill>
                <a:latin typeface="Calibri"/>
              </a:rPr>
              <a:t>value → list of row ids </a:t>
            </a:r>
            <a:r>
              <a:rPr sz="1250" b="0" i="0">
                <a:solidFill>
                  <a:srgbClr val="E6EDF3"/>
                </a:solidFill>
                <a:latin typeface="Calibri"/>
              </a:rPr>
              <a:t>(built on demand)</a:t>
            </a:r>
          </a:p>
          <a:p>
            <a:pPr algn="l">
              <a:lnSpc>
                <a:spcPct val="106000"/>
              </a:lnSpc>
              <a:spcAft>
                <a:spcPts val="500"/>
              </a:spcAft>
            </a:pPr>
            <a:r>
              <a:rPr sz="1250" b="1" i="0">
                <a:solidFill>
                  <a:srgbClr val="2DD4BF"/>
                </a:solidFill>
                <a:latin typeface="Calibri"/>
              </a:rPr>
              <a:t>▸ </a:t>
            </a:r>
            <a:r>
              <a:rPr sz="1250" b="1" i="0">
                <a:solidFill>
                  <a:srgbClr val="E6EDF3"/>
                </a:solidFill>
                <a:latin typeface="Calibri"/>
              </a:rPr>
              <a:t>Powers </a:t>
            </a:r>
            <a:r>
              <a:rPr sz="1250" b="0" i="0">
                <a:solidFill>
                  <a:srgbClr val="E6EDF3"/>
                </a:solidFill>
                <a:latin typeface="Calibri"/>
              </a:rPr>
              <a:t>fast equality WHERE filters and joins</a:t>
            </a:r>
          </a:p>
        </p:txBody>
      </p:sp>
      <p:sp>
        <p:nvSpPr>
          <p:cNvPr id="17" name="Rounded Rectangle 16"/>
          <p:cNvSpPr/>
          <p:nvPr/>
        </p:nvSpPr>
        <p:spPr>
          <a:xfrm>
            <a:off x="548640" y="4846320"/>
            <a:ext cx="11091672" cy="1280160"/>
          </a:xfrm>
          <a:prstGeom prst="roundRect">
            <a:avLst>
              <a:gd name="adj" fmla="val 6000"/>
            </a:avLst>
          </a:prstGeom>
          <a:solidFill>
            <a:srgbClr val="161B22"/>
          </a:solidFill>
          <a:ln w="1524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983480"/>
            <a:ext cx="10607040" cy="274320"/>
          </a:xfrm>
          <a:prstGeom prst="rect">
            <a:avLst/>
          </a:prstGeom>
          <a:noFill/>
        </p:spPr>
        <p:txBody>
          <a:bodyPr wrap="square" lIns="0" tIns="0" rIns="0" bIns="0" anchor="t">
            <a:spAutoFit/>
          </a:bodyPr>
          <a:lstStyle/>
          <a:p>
            <a:pPr algn="l"/>
            <a:r>
              <a:rPr sz="1350" b="1" i="0">
                <a:solidFill>
                  <a:srgbClr val="D29922"/>
                </a:solidFill>
                <a:latin typeface="Consolas"/>
              </a:rPr>
              <a:t>The hand-written CSV parser (the robust option)</a:t>
            </a:r>
          </a:p>
        </p:txBody>
      </p:sp>
      <p:sp>
        <p:nvSpPr>
          <p:cNvPr id="19" name="TextBox 18"/>
          <p:cNvSpPr txBox="1"/>
          <p:nvPr/>
        </p:nvSpPr>
        <p:spPr>
          <a:xfrm>
            <a:off x="777240" y="5349240"/>
            <a:ext cx="10698480" cy="640080"/>
          </a:xfrm>
          <a:prstGeom prst="rect">
            <a:avLst/>
          </a:prstGeom>
          <a:noFill/>
        </p:spPr>
        <p:txBody>
          <a:bodyPr wrap="square" lIns="0" tIns="0" rIns="0" bIns="0" anchor="t">
            <a:spAutoFit/>
          </a:bodyPr>
          <a:lstStyle/>
          <a:p>
            <a:pPr algn="l"/>
            <a:r>
              <a:rPr sz="1300" b="0" i="0">
                <a:solidFill>
                  <a:srgbClr val="E6EDF3"/>
                </a:solidFill>
                <a:latin typeface="Calibri"/>
              </a:rPr>
              <a:t>Single-pass character state machine — handles quoted fields, </a:t>
            </a:r>
            <a:r>
              <a:rPr sz="1250" b="0" i="0">
                <a:solidFill>
                  <a:srgbClr val="D29922"/>
                </a:solidFill>
                <a:latin typeface="Consolas"/>
              </a:rPr>
              <a:t>"" escapes, embedded newlines, CRLF, blank lines</a:t>
            </a:r>
            <a:r>
              <a:rPr sz="1300" b="0" i="0">
                <a:solidFill>
                  <a:srgbClr val="E6EDF3"/>
                </a:solidFill>
                <a:latin typeface="Calibri"/>
              </a:rPr>
              <a:t>, and reports malformed input with record numbers instead of crashing.</a:t>
            </a:r>
          </a:p>
        </p:txBody>
      </p:sp>
      <p:sp>
        <p:nvSpPr>
          <p:cNvPr id="20" name="TextBox 19"/>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1</a:t>
            </a:r>
            <a:r>
              <a:rPr lang="en-US" sz="1000" b="0" i="0" dirty="0">
                <a:solidFill>
                  <a:srgbClr val="8B949E"/>
                </a:solidFill>
                <a:latin typeface="Consolas"/>
              </a:rPr>
              <a:t>0</a:t>
            </a:r>
            <a:r>
              <a:rPr sz="1000" b="0" i="0" dirty="0">
                <a:solidFill>
                  <a:srgbClr val="8B949E"/>
                </a:solidFill>
                <a:latin typeface="Consolas"/>
              </a:rPr>
              <a:t> / </a:t>
            </a:r>
            <a:r>
              <a:rPr lang="en-US" sz="1000" b="0" i="0" dirty="0">
                <a:solidFill>
                  <a:srgbClr val="8B949E"/>
                </a:solidFill>
                <a:latin typeface="Consolas"/>
              </a:rPr>
              <a:t>1</a:t>
            </a:r>
            <a:r>
              <a:rPr lang="en-US" sz="1000" dirty="0">
                <a:solidFill>
                  <a:srgbClr val="8B949E"/>
                </a:solidFill>
                <a:latin typeface="Consolas"/>
              </a:rPr>
              <a:t>5</a:t>
            </a:r>
            <a:endParaRPr sz="1000" b="0" i="0" dirty="0">
              <a:solidFill>
                <a:srgbClr val="8B949E"/>
              </a:solidFill>
              <a:latin typeface="Consolas"/>
            </a:endParaRPr>
          </a:p>
        </p:txBody>
      </p:sp>
      <p:sp>
        <p:nvSpPr>
          <p:cNvPr id="21" name="TextBox 20"/>
          <p:cNvSpPr txBox="1"/>
          <p:nvPr/>
        </p:nvSpPr>
        <p:spPr>
          <a:xfrm>
            <a:off x="548640" y="6473952"/>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r>
              <a:rPr sz="1200" b="1" i="0">
                <a:solidFill>
                  <a:srgbClr val="58A6FF"/>
                </a:solidFill>
                <a:latin typeface="Consolas"/>
              </a:rPr>
              <a:t>SECTION 05 · PROJECT B</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000" b="1" i="0">
                <a:solidFill>
                  <a:srgbClr val="E6EDF3"/>
                </a:solidFill>
                <a:latin typeface="Consolas"/>
              </a:rPr>
              <a:t>Development History &amp; Quality</a:t>
            </a:r>
          </a:p>
        </p:txBody>
      </p:sp>
      <p:sp>
        <p:nvSpPr>
          <p:cNvPr id="5" name="Rectangle 4"/>
          <p:cNvSpPr/>
          <p:nvPr/>
        </p:nvSpPr>
        <p:spPr>
          <a:xfrm>
            <a:off x="914400" y="2148840"/>
            <a:ext cx="10332720" cy="2540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947672" y="2080260"/>
            <a:ext cx="164592" cy="164592"/>
          </a:xfrm>
          <a:prstGeom prst="ellipse">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404872"/>
            <a:ext cx="1920240" cy="274320"/>
          </a:xfrm>
          <a:prstGeom prst="rect">
            <a:avLst/>
          </a:prstGeom>
          <a:noFill/>
        </p:spPr>
        <p:txBody>
          <a:bodyPr wrap="square" lIns="0" tIns="0" rIns="0" bIns="0" anchor="t">
            <a:spAutoFit/>
          </a:bodyPr>
          <a:lstStyle/>
          <a:p>
            <a:pPr algn="ctr"/>
            <a:r>
              <a:rPr sz="1250" b="1" i="0">
                <a:solidFill>
                  <a:srgbClr val="E6EDF3"/>
                </a:solidFill>
                <a:latin typeface="Calibri"/>
              </a:rPr>
              <a:t>PR #1 merged</a:t>
            </a:r>
          </a:p>
        </p:txBody>
      </p:sp>
      <p:sp>
        <p:nvSpPr>
          <p:cNvPr id="9" name="TextBox 8"/>
          <p:cNvSpPr txBox="1"/>
          <p:nvPr/>
        </p:nvSpPr>
        <p:spPr>
          <a:xfrm>
            <a:off x="822959" y="2697480"/>
            <a:ext cx="2468880" cy="640080"/>
          </a:xfrm>
          <a:prstGeom prst="rect">
            <a:avLst/>
          </a:prstGeom>
          <a:noFill/>
        </p:spPr>
        <p:txBody>
          <a:bodyPr wrap="square" lIns="0" tIns="0" rIns="0" bIns="0" anchor="t">
            <a:spAutoFit/>
          </a:bodyPr>
          <a:lstStyle/>
          <a:p>
            <a:pPr algn="ctr">
              <a:lnSpc>
                <a:spcPct val="105000"/>
              </a:lnSpc>
            </a:pPr>
            <a:r>
              <a:rPr sz="1100" b="0" i="0">
                <a:solidFill>
                  <a:srgbClr val="8B949E"/>
                </a:solidFill>
                <a:latin typeface="Calibri"/>
              </a:rPr>
              <a:t>repository created,
README initialized</a:t>
            </a:r>
          </a:p>
        </p:txBody>
      </p:sp>
      <p:sp>
        <p:nvSpPr>
          <p:cNvPr id="10" name="Oval 9"/>
          <p:cNvSpPr/>
          <p:nvPr/>
        </p:nvSpPr>
        <p:spPr>
          <a:xfrm>
            <a:off x="5605272" y="2080260"/>
            <a:ext cx="164592" cy="164592"/>
          </a:xfrm>
          <a:prstGeom prst="ellipse">
            <a:avLst/>
          </a:prstGeom>
          <a:solidFill>
            <a:srgbClr val="BC8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0" y="2404872"/>
            <a:ext cx="1920240" cy="274320"/>
          </a:xfrm>
          <a:prstGeom prst="rect">
            <a:avLst/>
          </a:prstGeom>
          <a:noFill/>
        </p:spPr>
        <p:txBody>
          <a:bodyPr wrap="square" lIns="0" tIns="0" rIns="0" bIns="0" anchor="t">
            <a:spAutoFit/>
          </a:bodyPr>
          <a:lstStyle/>
          <a:p>
            <a:pPr algn="ctr"/>
            <a:r>
              <a:rPr sz="1250" b="1" i="0">
                <a:solidFill>
                  <a:srgbClr val="E6EDF3"/>
                </a:solidFill>
                <a:latin typeface="Calibri"/>
              </a:rPr>
              <a:t>PR #2 merged</a:t>
            </a:r>
          </a:p>
        </p:txBody>
      </p:sp>
      <p:sp>
        <p:nvSpPr>
          <p:cNvPr id="13" name="TextBox 12"/>
          <p:cNvSpPr txBox="1"/>
          <p:nvPr/>
        </p:nvSpPr>
        <p:spPr>
          <a:xfrm>
            <a:off x="4480560" y="2697480"/>
            <a:ext cx="2468880" cy="640080"/>
          </a:xfrm>
          <a:prstGeom prst="rect">
            <a:avLst/>
          </a:prstGeom>
          <a:noFill/>
        </p:spPr>
        <p:txBody>
          <a:bodyPr wrap="square" lIns="0" tIns="0" rIns="0" bIns="0" anchor="t">
            <a:spAutoFit/>
          </a:bodyPr>
          <a:lstStyle/>
          <a:p>
            <a:pPr algn="ctr">
              <a:lnSpc>
                <a:spcPct val="105000"/>
              </a:lnSpc>
            </a:pPr>
            <a:r>
              <a:rPr sz="1100" b="0" i="0">
                <a:solidFill>
                  <a:srgbClr val="8B949E"/>
                </a:solidFill>
                <a:latin typeface="Calibri"/>
              </a:rPr>
              <a:t>full project spec via
feature/SG11402_CS5351</a:t>
            </a:r>
          </a:p>
        </p:txBody>
      </p:sp>
      <p:sp>
        <p:nvSpPr>
          <p:cNvPr id="14" name="Oval 13"/>
          <p:cNvSpPr/>
          <p:nvPr/>
        </p:nvSpPr>
        <p:spPr>
          <a:xfrm>
            <a:off x="9628632" y="2080260"/>
            <a:ext cx="164592" cy="164592"/>
          </a:xfrm>
          <a:prstGeom prst="ellipse">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78240" y="2404872"/>
            <a:ext cx="1920240" cy="274320"/>
          </a:xfrm>
          <a:prstGeom prst="rect">
            <a:avLst/>
          </a:prstGeom>
          <a:noFill/>
        </p:spPr>
        <p:txBody>
          <a:bodyPr wrap="square" lIns="0" tIns="0" rIns="0" bIns="0" anchor="t">
            <a:spAutoFit/>
          </a:bodyPr>
          <a:lstStyle/>
          <a:p>
            <a:pPr algn="ctr"/>
            <a:r>
              <a:rPr sz="1250" b="1" i="0">
                <a:solidFill>
                  <a:srgbClr val="E6EDF3"/>
                </a:solidFill>
                <a:latin typeface="Calibri"/>
              </a:rPr>
              <a:t>engine complete</a:t>
            </a:r>
          </a:p>
        </p:txBody>
      </p:sp>
      <p:sp>
        <p:nvSpPr>
          <p:cNvPr id="17" name="TextBox 16"/>
          <p:cNvSpPr txBox="1"/>
          <p:nvPr/>
        </p:nvSpPr>
        <p:spPr>
          <a:xfrm>
            <a:off x="8503919" y="2697480"/>
            <a:ext cx="2468880" cy="640080"/>
          </a:xfrm>
          <a:prstGeom prst="rect">
            <a:avLst/>
          </a:prstGeom>
          <a:noFill/>
        </p:spPr>
        <p:txBody>
          <a:bodyPr wrap="square" lIns="0" tIns="0" rIns="0" bIns="0" anchor="t">
            <a:spAutoFit/>
          </a:bodyPr>
          <a:lstStyle/>
          <a:p>
            <a:pPr algn="ctr">
              <a:lnSpc>
                <a:spcPct val="105000"/>
              </a:lnSpc>
            </a:pPr>
            <a:r>
              <a:rPr sz="1100" b="0" i="0">
                <a:solidFill>
                  <a:srgbClr val="8B949E"/>
                </a:solidFill>
                <a:latin typeface="Calibri"/>
              </a:rPr>
              <a:t>parser · executor · tests ·
benchmark · docs (725fcdc)</a:t>
            </a:r>
          </a:p>
        </p:txBody>
      </p:sp>
      <p:sp>
        <p:nvSpPr>
          <p:cNvPr id="18" name="Rounded Rectangle 17"/>
          <p:cNvSpPr/>
          <p:nvPr/>
        </p:nvSpPr>
        <p:spPr>
          <a:xfrm>
            <a:off x="548640" y="3657600"/>
            <a:ext cx="5440680" cy="242316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3803904"/>
            <a:ext cx="5038344" cy="274320"/>
          </a:xfrm>
          <a:prstGeom prst="rect">
            <a:avLst/>
          </a:prstGeom>
          <a:noFill/>
        </p:spPr>
        <p:txBody>
          <a:bodyPr wrap="square" lIns="0" tIns="0" rIns="0" bIns="0" anchor="t">
            <a:spAutoFit/>
          </a:bodyPr>
          <a:lstStyle/>
          <a:p>
            <a:pPr algn="l"/>
            <a:r>
              <a:rPr sz="1350" b="1" i="0">
                <a:solidFill>
                  <a:srgbClr val="3FB950"/>
                </a:solidFill>
                <a:latin typeface="Consolas"/>
              </a:rPr>
              <a:t>Testing (164 checks, 0 failures)</a:t>
            </a:r>
          </a:p>
        </p:txBody>
      </p:sp>
      <p:sp>
        <p:nvSpPr>
          <p:cNvPr id="20" name="TextBox 19"/>
          <p:cNvSpPr txBox="1"/>
          <p:nvPr/>
        </p:nvSpPr>
        <p:spPr>
          <a:xfrm>
            <a:off x="749808" y="4133087"/>
            <a:ext cx="5056632" cy="1298448"/>
          </a:xfrm>
          <a:prstGeom prst="rect">
            <a:avLst/>
          </a:prstGeom>
          <a:noFill/>
        </p:spPr>
        <p:txBody>
          <a:bodyPr wrap="square" lIns="0" tIns="0" rIns="0" bIns="0" anchor="t">
            <a:spAutoFit/>
          </a:bodyPr>
          <a:lstStyle/>
          <a:p>
            <a:pPr algn="l">
              <a:lnSpc>
                <a:spcPct val="106000"/>
              </a:lnSpc>
              <a:spcAft>
                <a:spcPts val="500"/>
              </a:spcAft>
            </a:pPr>
            <a:r>
              <a:rPr sz="1200" b="1" i="0">
                <a:solidFill>
                  <a:srgbClr val="3FB950"/>
                </a:solidFill>
                <a:latin typeface="Calibri"/>
              </a:rPr>
              <a:t>▸ </a:t>
            </a:r>
            <a:r>
              <a:rPr sz="1200" b="1" i="0">
                <a:solidFill>
                  <a:srgbClr val="E6EDF3"/>
                </a:solidFill>
                <a:latin typeface="Calibri"/>
              </a:rPr>
              <a:t>Parser: </a:t>
            </a:r>
            <a:r>
              <a:rPr sz="1200" b="0" i="0">
                <a:solidFill>
                  <a:srgbClr val="E6EDF3"/>
                </a:solidFill>
                <a:latin typeface="Calibri"/>
              </a:rPr>
              <a:t>quoting, escapes, embedded newlines, CRLF, malformed input must throw</a:t>
            </a:r>
          </a:p>
          <a:p>
            <a:pPr algn="l">
              <a:lnSpc>
                <a:spcPct val="106000"/>
              </a:lnSpc>
              <a:spcAft>
                <a:spcPts val="500"/>
              </a:spcAft>
            </a:pPr>
            <a:r>
              <a:rPr sz="1200" b="1" i="0">
                <a:solidFill>
                  <a:srgbClr val="3FB950"/>
                </a:solidFill>
                <a:latin typeface="Calibri"/>
              </a:rPr>
              <a:t>▸ </a:t>
            </a:r>
            <a:r>
              <a:rPr sz="1200" b="1" i="0">
                <a:solidFill>
                  <a:srgbClr val="E6EDF3"/>
                </a:solidFill>
                <a:latin typeface="Calibri"/>
              </a:rPr>
              <a:t>Engine vs known Iris facts: </a:t>
            </a:r>
            <a:r>
              <a:rPr sz="1200" b="0" i="0">
                <a:solidFill>
                  <a:srgbClr val="E6EDF3"/>
                </a:solidFill>
                <a:latin typeface="Calibri"/>
              </a:rPr>
              <a:t>AVG(SepalLengthCm) = 5.8433, 50 rows per species, max sepal 7.9</a:t>
            </a:r>
          </a:p>
          <a:p>
            <a:pPr algn="l">
              <a:lnSpc>
                <a:spcPct val="106000"/>
              </a:lnSpc>
              <a:spcAft>
                <a:spcPts val="500"/>
              </a:spcAft>
            </a:pPr>
            <a:r>
              <a:rPr sz="1200" b="1" i="0">
                <a:solidFill>
                  <a:srgbClr val="3FB950"/>
                </a:solidFill>
                <a:latin typeface="Calibri"/>
              </a:rPr>
              <a:t>▸ </a:t>
            </a:r>
            <a:r>
              <a:rPr sz="1200" b="1" i="0">
                <a:solidFill>
                  <a:srgbClr val="E6EDF3"/>
                </a:solidFill>
                <a:latin typeface="Calibri"/>
              </a:rPr>
              <a:t>Property checks: </a:t>
            </a:r>
            <a:r>
              <a:rPr sz="1200" b="0" i="0">
                <a:solidFill>
                  <a:srgbClr val="E6EDF3"/>
                </a:solidFill>
                <a:latin typeface="Calibri"/>
              </a:rPr>
              <a:t>|A| = |A∧B| + |A∧¬B|; indexed ≡ non-indexed results</a:t>
            </a:r>
          </a:p>
        </p:txBody>
      </p:sp>
      <p:sp>
        <p:nvSpPr>
          <p:cNvPr id="21" name="Rounded Rectangle 20"/>
          <p:cNvSpPr/>
          <p:nvPr/>
        </p:nvSpPr>
        <p:spPr>
          <a:xfrm>
            <a:off x="6199632" y="3657600"/>
            <a:ext cx="5440680" cy="242316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3803904"/>
            <a:ext cx="5038344" cy="274320"/>
          </a:xfrm>
          <a:prstGeom prst="rect">
            <a:avLst/>
          </a:prstGeom>
          <a:noFill/>
        </p:spPr>
        <p:txBody>
          <a:bodyPr wrap="square" lIns="0" tIns="0" rIns="0" bIns="0" anchor="t">
            <a:spAutoFit/>
          </a:bodyPr>
          <a:lstStyle/>
          <a:p>
            <a:pPr algn="l"/>
            <a:r>
              <a:rPr sz="1350" b="1" i="0">
                <a:solidFill>
                  <a:srgbClr val="D29922"/>
                </a:solidFill>
                <a:latin typeface="Consolas"/>
              </a:rPr>
              <a:t>Error handling by design</a:t>
            </a:r>
          </a:p>
        </p:txBody>
      </p:sp>
      <p:sp>
        <p:nvSpPr>
          <p:cNvPr id="23" name="TextBox 22"/>
          <p:cNvSpPr txBox="1"/>
          <p:nvPr/>
        </p:nvSpPr>
        <p:spPr>
          <a:xfrm>
            <a:off x="6400800" y="4133087"/>
            <a:ext cx="5056632" cy="1298448"/>
          </a:xfrm>
          <a:prstGeom prst="rect">
            <a:avLst/>
          </a:prstGeom>
          <a:noFill/>
        </p:spPr>
        <p:txBody>
          <a:bodyPr wrap="square" lIns="0" tIns="0" rIns="0" bIns="0" anchor="t">
            <a:spAutoFit/>
          </a:bodyPr>
          <a:lstStyle/>
          <a:p>
            <a:pPr algn="l">
              <a:lnSpc>
                <a:spcPct val="106000"/>
              </a:lnSpc>
              <a:spcAft>
                <a:spcPts val="500"/>
              </a:spcAft>
            </a:pPr>
            <a:r>
              <a:rPr sz="1200" b="1" i="0">
                <a:solidFill>
                  <a:srgbClr val="D29922"/>
                </a:solidFill>
                <a:latin typeface="Calibri"/>
              </a:rPr>
              <a:t>▸ </a:t>
            </a:r>
            <a:r>
              <a:rPr sz="1200" b="1" i="0">
                <a:solidFill>
                  <a:srgbClr val="E6EDF3"/>
                </a:solidFill>
                <a:latin typeface="Calibri"/>
              </a:rPr>
              <a:t>CSV errors: </a:t>
            </a:r>
            <a:r>
              <a:rPr sz="1200" b="0" i="0">
                <a:solidFill>
                  <a:srgbClr val="E6EDF3"/>
                </a:solidFill>
                <a:latin typeface="Calibri"/>
              </a:rPr>
              <a:t>unterminated quotes, wrong field counts → clear messages with record numbers</a:t>
            </a:r>
          </a:p>
          <a:p>
            <a:pPr algn="l">
              <a:lnSpc>
                <a:spcPct val="106000"/>
              </a:lnSpc>
              <a:spcAft>
                <a:spcPts val="500"/>
              </a:spcAft>
            </a:pPr>
            <a:r>
              <a:rPr sz="1200" b="1" i="0">
                <a:solidFill>
                  <a:srgbClr val="D29922"/>
                </a:solidFill>
                <a:latin typeface="Calibri"/>
              </a:rPr>
              <a:t>▸ </a:t>
            </a:r>
            <a:r>
              <a:rPr sz="1200" b="1" i="0">
                <a:solidFill>
                  <a:srgbClr val="E6EDF3"/>
                </a:solidFill>
                <a:latin typeface="Calibri"/>
              </a:rPr>
              <a:t>Query errors: </a:t>
            </a:r>
            <a:r>
              <a:rPr sz="1200" b="0" i="0">
                <a:solidFill>
                  <a:srgbClr val="E6EDF3"/>
                </a:solidFill>
                <a:latin typeface="Calibri"/>
              </a:rPr>
              <a:t>unknown/ambiguous columns, type mismatches, non-numeric SUM → rejected loudly</a:t>
            </a:r>
          </a:p>
          <a:p>
            <a:pPr algn="l">
              <a:lnSpc>
                <a:spcPct val="106000"/>
              </a:lnSpc>
              <a:spcAft>
                <a:spcPts val="500"/>
              </a:spcAft>
            </a:pPr>
            <a:r>
              <a:rPr sz="1200" b="1" i="0">
                <a:solidFill>
                  <a:srgbClr val="D29922"/>
                </a:solidFill>
                <a:latin typeface="Calibri"/>
              </a:rPr>
              <a:t>▸ </a:t>
            </a:r>
            <a:r>
              <a:rPr sz="1200" b="1" i="0">
                <a:solidFill>
                  <a:srgbClr val="E6EDF3"/>
                </a:solidFill>
                <a:latin typeface="Calibri"/>
              </a:rPr>
              <a:t>The REPL reports and keeps running</a:t>
            </a:r>
          </a:p>
        </p:txBody>
      </p:sp>
      <p:sp>
        <p:nvSpPr>
          <p:cNvPr id="24" name="TextBox 23"/>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1</a:t>
            </a:r>
            <a:r>
              <a:rPr lang="en-US" sz="1000" b="0" i="0" dirty="0">
                <a:solidFill>
                  <a:srgbClr val="8B949E"/>
                </a:solidFill>
                <a:latin typeface="Consolas"/>
              </a:rPr>
              <a:t>1</a:t>
            </a:r>
            <a:r>
              <a:rPr sz="1000" b="0" i="0" dirty="0">
                <a:solidFill>
                  <a:srgbClr val="8B949E"/>
                </a:solidFill>
                <a:latin typeface="Consolas"/>
              </a:rPr>
              <a:t> / 1</a:t>
            </a:r>
            <a:r>
              <a:rPr lang="en-US" sz="1000" b="0" i="0" dirty="0">
                <a:solidFill>
                  <a:srgbClr val="8B949E"/>
                </a:solidFill>
                <a:latin typeface="Consolas"/>
              </a:rPr>
              <a:t>5</a:t>
            </a:r>
            <a:endParaRPr sz="1000" b="0" i="0" dirty="0">
              <a:solidFill>
                <a:srgbClr val="8B949E"/>
              </a:solidFill>
              <a:latin typeface="Consolas"/>
            </a:endParaRPr>
          </a:p>
        </p:txBody>
      </p:sp>
      <p:sp>
        <p:nvSpPr>
          <p:cNvPr id="25" name="TextBox 24"/>
          <p:cNvSpPr txBox="1"/>
          <p:nvPr/>
        </p:nvSpPr>
        <p:spPr>
          <a:xfrm>
            <a:off x="548640" y="6473952"/>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r>
              <a:rPr sz="1200" b="1" i="0">
                <a:solidFill>
                  <a:srgbClr val="58A6FF"/>
                </a:solidFill>
                <a:latin typeface="Consolas"/>
              </a:rPr>
              <a:t>SECTION 06</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000" b="1" i="0">
                <a:solidFill>
                  <a:srgbClr val="E6EDF3"/>
                </a:solidFill>
                <a:latin typeface="Consolas"/>
              </a:rPr>
              <a:t>GitHub Workflow Evidence</a:t>
            </a:r>
          </a:p>
        </p:txBody>
      </p:sp>
      <p:sp>
        <p:nvSpPr>
          <p:cNvPr id="5" name="TextBox 4"/>
          <p:cNvSpPr txBox="1"/>
          <p:nvPr/>
        </p:nvSpPr>
        <p:spPr>
          <a:xfrm>
            <a:off x="658368" y="1627632"/>
            <a:ext cx="3474720" cy="274320"/>
          </a:xfrm>
          <a:prstGeom prst="rect">
            <a:avLst/>
          </a:prstGeom>
          <a:noFill/>
        </p:spPr>
        <p:txBody>
          <a:bodyPr wrap="square" lIns="0" tIns="0" rIns="0" bIns="0" anchor="t">
            <a:spAutoFit/>
          </a:bodyPr>
          <a:lstStyle/>
          <a:p>
            <a:pPr algn="l"/>
            <a:r>
              <a:rPr sz="1200" b="1" i="0">
                <a:solidFill>
                  <a:srgbClr val="8B949E"/>
                </a:solidFill>
                <a:latin typeface="Calibri"/>
              </a:rPr>
              <a:t>repository</a:t>
            </a:r>
          </a:p>
        </p:txBody>
      </p:sp>
      <p:sp>
        <p:nvSpPr>
          <p:cNvPr id="6" name="TextBox 5"/>
          <p:cNvSpPr txBox="1"/>
          <p:nvPr/>
        </p:nvSpPr>
        <p:spPr>
          <a:xfrm>
            <a:off x="4251959" y="1627632"/>
            <a:ext cx="1097280" cy="274320"/>
          </a:xfrm>
          <a:prstGeom prst="rect">
            <a:avLst/>
          </a:prstGeom>
          <a:noFill/>
        </p:spPr>
        <p:txBody>
          <a:bodyPr wrap="square" lIns="0" tIns="0" rIns="0" bIns="0" anchor="t">
            <a:spAutoFit/>
          </a:bodyPr>
          <a:lstStyle/>
          <a:p>
            <a:pPr algn="l"/>
            <a:r>
              <a:rPr sz="1200" b="1" i="0">
                <a:solidFill>
                  <a:srgbClr val="8B949E"/>
                </a:solidFill>
                <a:latin typeface="Calibri"/>
              </a:rPr>
              <a:t>commits</a:t>
            </a:r>
          </a:p>
        </p:txBody>
      </p:sp>
      <p:sp>
        <p:nvSpPr>
          <p:cNvPr id="7" name="TextBox 6"/>
          <p:cNvSpPr txBox="1"/>
          <p:nvPr/>
        </p:nvSpPr>
        <p:spPr>
          <a:xfrm>
            <a:off x="5440680" y="1627632"/>
            <a:ext cx="1097279" cy="274320"/>
          </a:xfrm>
          <a:prstGeom prst="rect">
            <a:avLst/>
          </a:prstGeom>
          <a:noFill/>
        </p:spPr>
        <p:txBody>
          <a:bodyPr wrap="square" lIns="0" tIns="0" rIns="0" bIns="0" anchor="t">
            <a:spAutoFit/>
          </a:bodyPr>
          <a:lstStyle/>
          <a:p>
            <a:pPr algn="l"/>
            <a:r>
              <a:rPr sz="1200" b="1" i="0">
                <a:solidFill>
                  <a:srgbClr val="8B949E"/>
                </a:solidFill>
                <a:latin typeface="Calibri"/>
              </a:rPr>
              <a:t>branches</a:t>
            </a:r>
          </a:p>
        </p:txBody>
      </p:sp>
      <p:sp>
        <p:nvSpPr>
          <p:cNvPr id="8" name="TextBox 7"/>
          <p:cNvSpPr txBox="1"/>
          <p:nvPr/>
        </p:nvSpPr>
        <p:spPr>
          <a:xfrm>
            <a:off x="6629400" y="1627632"/>
            <a:ext cx="1188719" cy="274320"/>
          </a:xfrm>
          <a:prstGeom prst="rect">
            <a:avLst/>
          </a:prstGeom>
          <a:noFill/>
        </p:spPr>
        <p:txBody>
          <a:bodyPr wrap="square" lIns="0" tIns="0" rIns="0" bIns="0" anchor="t">
            <a:spAutoFit/>
          </a:bodyPr>
          <a:lstStyle/>
          <a:p>
            <a:pPr algn="l"/>
            <a:r>
              <a:rPr sz="1200" b="1" i="0">
                <a:solidFill>
                  <a:srgbClr val="8B949E"/>
                </a:solidFill>
                <a:latin typeface="Calibri"/>
              </a:rPr>
              <a:t>PRs merged</a:t>
            </a:r>
          </a:p>
        </p:txBody>
      </p:sp>
      <p:sp>
        <p:nvSpPr>
          <p:cNvPr id="9" name="TextBox 8"/>
          <p:cNvSpPr txBox="1"/>
          <p:nvPr/>
        </p:nvSpPr>
        <p:spPr>
          <a:xfrm>
            <a:off x="7909560" y="1627632"/>
            <a:ext cx="3685032" cy="274320"/>
          </a:xfrm>
          <a:prstGeom prst="rect">
            <a:avLst/>
          </a:prstGeom>
          <a:noFill/>
        </p:spPr>
        <p:txBody>
          <a:bodyPr wrap="square" lIns="0" tIns="0" rIns="0" bIns="0" anchor="t">
            <a:spAutoFit/>
          </a:bodyPr>
          <a:lstStyle/>
          <a:p>
            <a:pPr algn="l"/>
            <a:r>
              <a:rPr sz="1200" b="1" i="0">
                <a:solidFill>
                  <a:srgbClr val="8B949E"/>
                </a:solidFill>
                <a:latin typeface="Calibri"/>
              </a:rPr>
              <a:t>highlights</a:t>
            </a:r>
          </a:p>
        </p:txBody>
      </p:sp>
      <p:sp>
        <p:nvSpPr>
          <p:cNvPr id="10" name="Rectangle 9"/>
          <p:cNvSpPr/>
          <p:nvPr/>
        </p:nvSpPr>
        <p:spPr>
          <a:xfrm>
            <a:off x="548640" y="1965960"/>
            <a:ext cx="11091672" cy="41148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011680"/>
            <a:ext cx="3566160" cy="310896"/>
          </a:xfrm>
          <a:prstGeom prst="rect">
            <a:avLst/>
          </a:prstGeom>
          <a:noFill/>
        </p:spPr>
        <p:txBody>
          <a:bodyPr wrap="none" lIns="0" tIns="0" rIns="0" bIns="0" anchor="t">
            <a:spAutoFit/>
          </a:bodyPr>
          <a:lstStyle/>
          <a:p>
            <a:pPr algn="l"/>
            <a:r>
              <a:rPr sz="1200" b="0" i="0">
                <a:solidFill>
                  <a:srgbClr val="58A6FF"/>
                </a:solidFill>
                <a:latin typeface="Consolas"/>
              </a:rPr>
              <a:t>11402_CS5351_Project0</a:t>
            </a:r>
          </a:p>
        </p:txBody>
      </p:sp>
      <p:sp>
        <p:nvSpPr>
          <p:cNvPr id="12" name="TextBox 11"/>
          <p:cNvSpPr txBox="1"/>
          <p:nvPr/>
        </p:nvSpPr>
        <p:spPr>
          <a:xfrm>
            <a:off x="4251959" y="2011680"/>
            <a:ext cx="1097280" cy="310896"/>
          </a:xfrm>
          <a:prstGeom prst="rect">
            <a:avLst/>
          </a:prstGeom>
          <a:noFill/>
        </p:spPr>
        <p:txBody>
          <a:bodyPr wrap="square" lIns="0" tIns="0" rIns="0" bIns="0" anchor="t">
            <a:spAutoFit/>
          </a:bodyPr>
          <a:lstStyle/>
          <a:p>
            <a:pPr algn="l"/>
            <a:r>
              <a:rPr sz="1250" b="0" i="0">
                <a:solidFill>
                  <a:srgbClr val="E6EDF3"/>
                </a:solidFill>
                <a:latin typeface="Consolas"/>
              </a:rPr>
              <a:t>17</a:t>
            </a:r>
          </a:p>
        </p:txBody>
      </p:sp>
      <p:sp>
        <p:nvSpPr>
          <p:cNvPr id="13" name="TextBox 12"/>
          <p:cNvSpPr txBox="1"/>
          <p:nvPr/>
        </p:nvSpPr>
        <p:spPr>
          <a:xfrm>
            <a:off x="5440680" y="2011680"/>
            <a:ext cx="1097279" cy="310896"/>
          </a:xfrm>
          <a:prstGeom prst="rect">
            <a:avLst/>
          </a:prstGeom>
          <a:noFill/>
        </p:spPr>
        <p:txBody>
          <a:bodyPr wrap="square" lIns="0" tIns="0" rIns="0" bIns="0" anchor="t">
            <a:spAutoFit/>
          </a:bodyPr>
          <a:lstStyle/>
          <a:p>
            <a:pPr algn="l"/>
            <a:r>
              <a:rPr sz="1250" b="0" i="0">
                <a:solidFill>
                  <a:srgbClr val="E6EDF3"/>
                </a:solidFill>
                <a:latin typeface="Consolas"/>
              </a:rPr>
              <a:t>2</a:t>
            </a:r>
          </a:p>
        </p:txBody>
      </p:sp>
      <p:sp>
        <p:nvSpPr>
          <p:cNvPr id="14" name="TextBox 13"/>
          <p:cNvSpPr txBox="1"/>
          <p:nvPr/>
        </p:nvSpPr>
        <p:spPr>
          <a:xfrm>
            <a:off x="6629400" y="2011680"/>
            <a:ext cx="1188719" cy="310896"/>
          </a:xfrm>
          <a:prstGeom prst="rect">
            <a:avLst/>
          </a:prstGeom>
          <a:noFill/>
        </p:spPr>
        <p:txBody>
          <a:bodyPr wrap="square" lIns="0" tIns="0" rIns="0" bIns="0" anchor="t">
            <a:spAutoFit/>
          </a:bodyPr>
          <a:lstStyle/>
          <a:p>
            <a:pPr algn="l"/>
            <a:r>
              <a:rPr sz="1250" b="0" i="0">
                <a:solidFill>
                  <a:srgbClr val="E6EDF3"/>
                </a:solidFill>
                <a:latin typeface="Consolas"/>
              </a:rPr>
              <a:t>4</a:t>
            </a:r>
          </a:p>
        </p:txBody>
      </p:sp>
      <p:sp>
        <p:nvSpPr>
          <p:cNvPr id="15" name="TextBox 14"/>
          <p:cNvSpPr txBox="1"/>
          <p:nvPr/>
        </p:nvSpPr>
        <p:spPr>
          <a:xfrm>
            <a:off x="7909560" y="2011680"/>
            <a:ext cx="3657600" cy="310896"/>
          </a:xfrm>
          <a:prstGeom prst="rect">
            <a:avLst/>
          </a:prstGeom>
          <a:noFill/>
        </p:spPr>
        <p:txBody>
          <a:bodyPr wrap="square" lIns="0" tIns="0" rIns="0" bIns="0" anchor="t">
            <a:spAutoFit/>
          </a:bodyPr>
          <a:lstStyle/>
          <a:p>
            <a:pPr algn="l"/>
            <a:r>
              <a:rPr sz="1150" b="0" i="0">
                <a:solidFill>
                  <a:srgbClr val="8B949E"/>
                </a:solidFill>
                <a:latin typeface="Calibri"/>
              </a:rPr>
              <a:t>docs-first, CI, task-coded commits</a:t>
            </a:r>
          </a:p>
        </p:txBody>
      </p:sp>
      <p:sp>
        <p:nvSpPr>
          <p:cNvPr id="16" name="TextBox 15"/>
          <p:cNvSpPr txBox="1"/>
          <p:nvPr/>
        </p:nvSpPr>
        <p:spPr>
          <a:xfrm>
            <a:off x="658368" y="2432304"/>
            <a:ext cx="3566160" cy="310896"/>
          </a:xfrm>
          <a:prstGeom prst="rect">
            <a:avLst/>
          </a:prstGeom>
          <a:noFill/>
        </p:spPr>
        <p:txBody>
          <a:bodyPr wrap="none" lIns="0" tIns="0" rIns="0" bIns="0" anchor="t">
            <a:spAutoFit/>
          </a:bodyPr>
          <a:lstStyle/>
          <a:p>
            <a:pPr algn="l"/>
            <a:r>
              <a:rPr sz="1200" b="0" i="0">
                <a:solidFill>
                  <a:srgbClr val="58A6FF"/>
                </a:solidFill>
                <a:latin typeface="Consolas"/>
              </a:rPr>
              <a:t>11402_CS5351_ProjectB</a:t>
            </a:r>
          </a:p>
        </p:txBody>
      </p:sp>
      <p:sp>
        <p:nvSpPr>
          <p:cNvPr id="17" name="TextBox 16"/>
          <p:cNvSpPr txBox="1"/>
          <p:nvPr/>
        </p:nvSpPr>
        <p:spPr>
          <a:xfrm>
            <a:off x="4251959" y="2432304"/>
            <a:ext cx="1097280" cy="310896"/>
          </a:xfrm>
          <a:prstGeom prst="rect">
            <a:avLst/>
          </a:prstGeom>
          <a:noFill/>
        </p:spPr>
        <p:txBody>
          <a:bodyPr wrap="square" lIns="0" tIns="0" rIns="0" bIns="0" anchor="t">
            <a:spAutoFit/>
          </a:bodyPr>
          <a:lstStyle/>
          <a:p>
            <a:pPr algn="l"/>
            <a:r>
              <a:rPr sz="1250" b="0" i="0">
                <a:solidFill>
                  <a:srgbClr val="E6EDF3"/>
                </a:solidFill>
                <a:latin typeface="Consolas"/>
              </a:rPr>
              <a:t>7</a:t>
            </a:r>
          </a:p>
        </p:txBody>
      </p:sp>
      <p:sp>
        <p:nvSpPr>
          <p:cNvPr id="18" name="TextBox 17"/>
          <p:cNvSpPr txBox="1"/>
          <p:nvPr/>
        </p:nvSpPr>
        <p:spPr>
          <a:xfrm>
            <a:off x="5440680" y="2432304"/>
            <a:ext cx="1097279" cy="310896"/>
          </a:xfrm>
          <a:prstGeom prst="rect">
            <a:avLst/>
          </a:prstGeom>
          <a:noFill/>
        </p:spPr>
        <p:txBody>
          <a:bodyPr wrap="square" lIns="0" tIns="0" rIns="0" bIns="0" anchor="t">
            <a:spAutoFit/>
          </a:bodyPr>
          <a:lstStyle/>
          <a:p>
            <a:pPr algn="l"/>
            <a:r>
              <a:rPr sz="1250" b="0" i="0">
                <a:solidFill>
                  <a:srgbClr val="E6EDF3"/>
                </a:solidFill>
                <a:latin typeface="Consolas"/>
              </a:rPr>
              <a:t>2</a:t>
            </a:r>
          </a:p>
        </p:txBody>
      </p:sp>
      <p:sp>
        <p:nvSpPr>
          <p:cNvPr id="19" name="TextBox 18"/>
          <p:cNvSpPr txBox="1"/>
          <p:nvPr/>
        </p:nvSpPr>
        <p:spPr>
          <a:xfrm>
            <a:off x="6629400" y="2432304"/>
            <a:ext cx="1188719" cy="310896"/>
          </a:xfrm>
          <a:prstGeom prst="rect">
            <a:avLst/>
          </a:prstGeom>
          <a:noFill/>
        </p:spPr>
        <p:txBody>
          <a:bodyPr wrap="square" lIns="0" tIns="0" rIns="0" bIns="0" anchor="t">
            <a:spAutoFit/>
          </a:bodyPr>
          <a:lstStyle/>
          <a:p>
            <a:pPr algn="l"/>
            <a:r>
              <a:rPr sz="1250" b="0" i="0">
                <a:solidFill>
                  <a:srgbClr val="E6EDF3"/>
                </a:solidFill>
                <a:latin typeface="Consolas"/>
              </a:rPr>
              <a:t>2</a:t>
            </a:r>
          </a:p>
        </p:txBody>
      </p:sp>
      <p:sp>
        <p:nvSpPr>
          <p:cNvPr id="20" name="TextBox 19"/>
          <p:cNvSpPr txBox="1"/>
          <p:nvPr/>
        </p:nvSpPr>
        <p:spPr>
          <a:xfrm>
            <a:off x="7909560" y="2432304"/>
            <a:ext cx="3657600" cy="310896"/>
          </a:xfrm>
          <a:prstGeom prst="rect">
            <a:avLst/>
          </a:prstGeom>
          <a:noFill/>
        </p:spPr>
        <p:txBody>
          <a:bodyPr wrap="square" lIns="0" tIns="0" rIns="0" bIns="0" anchor="t">
            <a:spAutoFit/>
          </a:bodyPr>
          <a:lstStyle/>
          <a:p>
            <a:pPr algn="l"/>
            <a:r>
              <a:rPr sz="1150" b="0" i="0">
                <a:solidFill>
                  <a:srgbClr val="8B949E"/>
                </a:solidFill>
                <a:latin typeface="Calibri"/>
              </a:rPr>
              <a:t>feature branch → PR → merge</a:t>
            </a:r>
          </a:p>
        </p:txBody>
      </p:sp>
      <p:sp>
        <p:nvSpPr>
          <p:cNvPr id="21" name="Rectangle 20"/>
          <p:cNvSpPr/>
          <p:nvPr/>
        </p:nvSpPr>
        <p:spPr>
          <a:xfrm>
            <a:off x="548640" y="2807208"/>
            <a:ext cx="11091672" cy="41148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 y="2852928"/>
            <a:ext cx="3566160" cy="310896"/>
          </a:xfrm>
          <a:prstGeom prst="rect">
            <a:avLst/>
          </a:prstGeom>
          <a:noFill/>
        </p:spPr>
        <p:txBody>
          <a:bodyPr wrap="none" lIns="0" tIns="0" rIns="0" bIns="0" anchor="t">
            <a:spAutoFit/>
          </a:bodyPr>
          <a:lstStyle/>
          <a:p>
            <a:pPr algn="l"/>
            <a:r>
              <a:rPr sz="1200" b="0" i="0">
                <a:solidFill>
                  <a:srgbClr val="58A6FF"/>
                </a:solidFill>
                <a:latin typeface="Consolas"/>
              </a:rPr>
              <a:t>max-shen378.github.io</a:t>
            </a:r>
          </a:p>
        </p:txBody>
      </p:sp>
      <p:sp>
        <p:nvSpPr>
          <p:cNvPr id="23" name="TextBox 22"/>
          <p:cNvSpPr txBox="1"/>
          <p:nvPr/>
        </p:nvSpPr>
        <p:spPr>
          <a:xfrm>
            <a:off x="4251959" y="2852928"/>
            <a:ext cx="1097280" cy="310896"/>
          </a:xfrm>
          <a:prstGeom prst="rect">
            <a:avLst/>
          </a:prstGeom>
          <a:noFill/>
        </p:spPr>
        <p:txBody>
          <a:bodyPr wrap="square" lIns="0" tIns="0" rIns="0" bIns="0" anchor="t">
            <a:spAutoFit/>
          </a:bodyPr>
          <a:lstStyle/>
          <a:p>
            <a:pPr algn="l"/>
            <a:r>
              <a:rPr sz="1250" b="0" i="0">
                <a:solidFill>
                  <a:srgbClr val="E6EDF3"/>
                </a:solidFill>
                <a:latin typeface="Consolas"/>
              </a:rPr>
              <a:t>10</a:t>
            </a:r>
          </a:p>
        </p:txBody>
      </p:sp>
      <p:sp>
        <p:nvSpPr>
          <p:cNvPr id="24" name="TextBox 23"/>
          <p:cNvSpPr txBox="1"/>
          <p:nvPr/>
        </p:nvSpPr>
        <p:spPr>
          <a:xfrm>
            <a:off x="5440680" y="2852928"/>
            <a:ext cx="1097279" cy="310896"/>
          </a:xfrm>
          <a:prstGeom prst="rect">
            <a:avLst/>
          </a:prstGeom>
          <a:noFill/>
        </p:spPr>
        <p:txBody>
          <a:bodyPr wrap="square" lIns="0" tIns="0" rIns="0" bIns="0" anchor="t">
            <a:spAutoFit/>
          </a:bodyPr>
          <a:lstStyle/>
          <a:p>
            <a:pPr algn="l"/>
            <a:r>
              <a:rPr sz="1250" b="0" i="0">
                <a:solidFill>
                  <a:srgbClr val="E6EDF3"/>
                </a:solidFill>
                <a:latin typeface="Consolas"/>
              </a:rPr>
              <a:t>1</a:t>
            </a:r>
          </a:p>
        </p:txBody>
      </p:sp>
      <p:sp>
        <p:nvSpPr>
          <p:cNvPr id="25" name="TextBox 24"/>
          <p:cNvSpPr txBox="1"/>
          <p:nvPr/>
        </p:nvSpPr>
        <p:spPr>
          <a:xfrm>
            <a:off x="6629400" y="2852928"/>
            <a:ext cx="1188719" cy="310896"/>
          </a:xfrm>
          <a:prstGeom prst="rect">
            <a:avLst/>
          </a:prstGeom>
          <a:noFill/>
        </p:spPr>
        <p:txBody>
          <a:bodyPr wrap="square" lIns="0" tIns="0" rIns="0" bIns="0" anchor="t">
            <a:spAutoFit/>
          </a:bodyPr>
          <a:lstStyle/>
          <a:p>
            <a:pPr algn="l"/>
            <a:r>
              <a:rPr sz="1250" b="0" i="0">
                <a:solidFill>
                  <a:srgbClr val="E6EDF3"/>
                </a:solidFill>
                <a:latin typeface="Consolas"/>
              </a:rPr>
              <a:t>—</a:t>
            </a:r>
          </a:p>
        </p:txBody>
      </p:sp>
      <p:sp>
        <p:nvSpPr>
          <p:cNvPr id="26" name="TextBox 25"/>
          <p:cNvSpPr txBox="1"/>
          <p:nvPr/>
        </p:nvSpPr>
        <p:spPr>
          <a:xfrm>
            <a:off x="7909560" y="2852928"/>
            <a:ext cx="3657600" cy="310896"/>
          </a:xfrm>
          <a:prstGeom prst="rect">
            <a:avLst/>
          </a:prstGeom>
          <a:noFill/>
        </p:spPr>
        <p:txBody>
          <a:bodyPr wrap="square" lIns="0" tIns="0" rIns="0" bIns="0" anchor="t">
            <a:spAutoFit/>
          </a:bodyPr>
          <a:lstStyle/>
          <a:p>
            <a:pPr algn="l"/>
            <a:r>
              <a:rPr sz="1150" b="0" i="0">
                <a:solidFill>
                  <a:srgbClr val="8B949E"/>
                </a:solidFill>
                <a:latin typeface="Calibri"/>
              </a:rPr>
              <a:t>iterative redesign history</a:t>
            </a:r>
          </a:p>
        </p:txBody>
      </p:sp>
      <p:sp>
        <p:nvSpPr>
          <p:cNvPr id="27" name="TextBox 26"/>
          <p:cNvSpPr txBox="1"/>
          <p:nvPr/>
        </p:nvSpPr>
        <p:spPr>
          <a:xfrm>
            <a:off x="658368" y="3273552"/>
            <a:ext cx="3566160" cy="310896"/>
          </a:xfrm>
          <a:prstGeom prst="rect">
            <a:avLst/>
          </a:prstGeom>
          <a:noFill/>
        </p:spPr>
        <p:txBody>
          <a:bodyPr wrap="none" lIns="0" tIns="0" rIns="0" bIns="0" anchor="t">
            <a:spAutoFit/>
          </a:bodyPr>
          <a:lstStyle/>
          <a:p>
            <a:pPr algn="l"/>
            <a:r>
              <a:rPr sz="1200" b="0" i="0">
                <a:solidFill>
                  <a:srgbClr val="58A6FF"/>
                </a:solidFill>
                <a:latin typeface="Consolas"/>
              </a:rPr>
              <a:t>11402_CS351</a:t>
            </a:r>
          </a:p>
        </p:txBody>
      </p:sp>
      <p:sp>
        <p:nvSpPr>
          <p:cNvPr id="28" name="TextBox 27"/>
          <p:cNvSpPr txBox="1"/>
          <p:nvPr/>
        </p:nvSpPr>
        <p:spPr>
          <a:xfrm>
            <a:off x="4251959" y="3273552"/>
            <a:ext cx="1097280" cy="310896"/>
          </a:xfrm>
          <a:prstGeom prst="rect">
            <a:avLst/>
          </a:prstGeom>
          <a:noFill/>
        </p:spPr>
        <p:txBody>
          <a:bodyPr wrap="square" lIns="0" tIns="0" rIns="0" bIns="0" anchor="t">
            <a:spAutoFit/>
          </a:bodyPr>
          <a:lstStyle/>
          <a:p>
            <a:pPr algn="l"/>
            <a:r>
              <a:rPr sz="1250" b="0" i="0">
                <a:solidFill>
                  <a:srgbClr val="E6EDF3"/>
                </a:solidFill>
                <a:latin typeface="Consolas"/>
              </a:rPr>
              <a:t>4</a:t>
            </a:r>
          </a:p>
        </p:txBody>
      </p:sp>
      <p:sp>
        <p:nvSpPr>
          <p:cNvPr id="29" name="TextBox 28"/>
          <p:cNvSpPr txBox="1"/>
          <p:nvPr/>
        </p:nvSpPr>
        <p:spPr>
          <a:xfrm>
            <a:off x="5440680" y="3273552"/>
            <a:ext cx="1097279" cy="310896"/>
          </a:xfrm>
          <a:prstGeom prst="rect">
            <a:avLst/>
          </a:prstGeom>
          <a:noFill/>
        </p:spPr>
        <p:txBody>
          <a:bodyPr wrap="square" lIns="0" tIns="0" rIns="0" bIns="0" anchor="t">
            <a:spAutoFit/>
          </a:bodyPr>
          <a:lstStyle/>
          <a:p>
            <a:pPr algn="l"/>
            <a:r>
              <a:rPr sz="1250" b="0" i="0">
                <a:solidFill>
                  <a:srgbClr val="E6EDF3"/>
                </a:solidFill>
                <a:latin typeface="Consolas"/>
              </a:rPr>
              <a:t>1</a:t>
            </a:r>
          </a:p>
        </p:txBody>
      </p:sp>
      <p:sp>
        <p:nvSpPr>
          <p:cNvPr id="30" name="TextBox 29"/>
          <p:cNvSpPr txBox="1"/>
          <p:nvPr/>
        </p:nvSpPr>
        <p:spPr>
          <a:xfrm>
            <a:off x="6629400" y="3273552"/>
            <a:ext cx="1188719" cy="310896"/>
          </a:xfrm>
          <a:prstGeom prst="rect">
            <a:avLst/>
          </a:prstGeom>
          <a:noFill/>
        </p:spPr>
        <p:txBody>
          <a:bodyPr wrap="square" lIns="0" tIns="0" rIns="0" bIns="0" anchor="t">
            <a:spAutoFit/>
          </a:bodyPr>
          <a:lstStyle/>
          <a:p>
            <a:pPr algn="l"/>
            <a:r>
              <a:rPr sz="1250" b="0" i="0">
                <a:solidFill>
                  <a:srgbClr val="E6EDF3"/>
                </a:solidFill>
                <a:latin typeface="Consolas"/>
              </a:rPr>
              <a:t>—</a:t>
            </a:r>
          </a:p>
        </p:txBody>
      </p:sp>
      <p:sp>
        <p:nvSpPr>
          <p:cNvPr id="31" name="TextBox 30"/>
          <p:cNvSpPr txBox="1"/>
          <p:nvPr/>
        </p:nvSpPr>
        <p:spPr>
          <a:xfrm>
            <a:off x="7909560" y="3273552"/>
            <a:ext cx="3657600" cy="310896"/>
          </a:xfrm>
          <a:prstGeom prst="rect">
            <a:avLst/>
          </a:prstGeom>
          <a:noFill/>
        </p:spPr>
        <p:txBody>
          <a:bodyPr wrap="square" lIns="0" tIns="0" rIns="0" bIns="0" anchor="t">
            <a:spAutoFit/>
          </a:bodyPr>
          <a:lstStyle/>
          <a:p>
            <a:pPr algn="l"/>
            <a:r>
              <a:rPr sz="1150" b="0" i="0">
                <a:solidFill>
                  <a:srgbClr val="8B949E"/>
                </a:solidFill>
                <a:latin typeface="Calibri"/>
              </a:rPr>
              <a:t>merge-conflict resolution</a:t>
            </a:r>
          </a:p>
        </p:txBody>
      </p:sp>
      <p:sp>
        <p:nvSpPr>
          <p:cNvPr id="33" name="Rectangle 32"/>
          <p:cNvSpPr/>
          <p:nvPr/>
        </p:nvSpPr>
        <p:spPr>
          <a:xfrm>
            <a:off x="548640" y="3977639"/>
            <a:ext cx="5440680" cy="2377440"/>
          </a:xfrm>
          <a:prstGeom prst="rect">
            <a:avLst/>
          </a:prstGeom>
          <a:solidFill>
            <a:srgbClr val="1C232D"/>
          </a:solidFill>
          <a:ln w="19050">
            <a:solidFill>
              <a:srgbClr val="8B94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99632" y="3977639"/>
            <a:ext cx="5440680" cy="2377440"/>
          </a:xfrm>
          <a:prstGeom prst="rect">
            <a:avLst/>
          </a:prstGeom>
          <a:solidFill>
            <a:srgbClr val="1C232D"/>
          </a:solidFill>
          <a:ln w="19050">
            <a:solidFill>
              <a:srgbClr val="8B94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1</a:t>
            </a:r>
            <a:r>
              <a:rPr lang="en-US" sz="1000" b="0" i="0" dirty="0">
                <a:solidFill>
                  <a:srgbClr val="8B949E"/>
                </a:solidFill>
                <a:latin typeface="Consolas"/>
              </a:rPr>
              <a:t>2</a:t>
            </a:r>
            <a:r>
              <a:rPr sz="1000" b="0" i="0" dirty="0">
                <a:solidFill>
                  <a:srgbClr val="8B949E"/>
                </a:solidFill>
                <a:latin typeface="Consolas"/>
              </a:rPr>
              <a:t> / 1</a:t>
            </a:r>
            <a:r>
              <a:rPr lang="en-US" sz="1000" b="0" i="0" dirty="0">
                <a:solidFill>
                  <a:srgbClr val="8B949E"/>
                </a:solidFill>
                <a:latin typeface="Consolas"/>
              </a:rPr>
              <a:t>5</a:t>
            </a:r>
            <a:endParaRPr sz="1000" b="0" i="0" dirty="0">
              <a:solidFill>
                <a:srgbClr val="8B949E"/>
              </a:solidFill>
              <a:latin typeface="Consolas"/>
            </a:endParaRPr>
          </a:p>
        </p:txBody>
      </p:sp>
      <p:sp>
        <p:nvSpPr>
          <p:cNvPr id="38" name="TextBox 37"/>
          <p:cNvSpPr txBox="1"/>
          <p:nvPr/>
        </p:nvSpPr>
        <p:spPr>
          <a:xfrm>
            <a:off x="548640" y="6473952"/>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pic>
        <p:nvPicPr>
          <p:cNvPr id="40" name="Picture 39">
            <a:extLst>
              <a:ext uri="{FF2B5EF4-FFF2-40B4-BE49-F238E27FC236}">
                <a16:creationId xmlns:a16="http://schemas.microsoft.com/office/drawing/2014/main" id="{2B60F46E-4272-4ED6-00C6-92211F8148DD}"/>
              </a:ext>
            </a:extLst>
          </p:cNvPr>
          <p:cNvPicPr>
            <a:picLocks noChangeAspect="1"/>
          </p:cNvPicPr>
          <p:nvPr/>
        </p:nvPicPr>
        <p:blipFill>
          <a:blip r:embed="rId3"/>
          <a:stretch>
            <a:fillRect/>
          </a:stretch>
        </p:blipFill>
        <p:spPr>
          <a:xfrm>
            <a:off x="548640" y="3977639"/>
            <a:ext cx="5440680" cy="2377440"/>
          </a:xfrm>
          <a:prstGeom prst="rect">
            <a:avLst/>
          </a:prstGeom>
        </p:spPr>
      </p:pic>
      <p:pic>
        <p:nvPicPr>
          <p:cNvPr id="42" name="Picture 41">
            <a:extLst>
              <a:ext uri="{FF2B5EF4-FFF2-40B4-BE49-F238E27FC236}">
                <a16:creationId xmlns:a16="http://schemas.microsoft.com/office/drawing/2014/main" id="{3D83B14A-4E12-4DAB-7770-911264244EFF}"/>
              </a:ext>
            </a:extLst>
          </p:cNvPr>
          <p:cNvPicPr>
            <a:picLocks noChangeAspect="1"/>
          </p:cNvPicPr>
          <p:nvPr/>
        </p:nvPicPr>
        <p:blipFill>
          <a:blip r:embed="rId4"/>
          <a:stretch>
            <a:fillRect/>
          </a:stretch>
        </p:blipFill>
        <p:spPr>
          <a:xfrm>
            <a:off x="6199633" y="4003326"/>
            <a:ext cx="5440680" cy="235175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r>
              <a:rPr sz="1200" b="1" i="0">
                <a:solidFill>
                  <a:srgbClr val="58A6FF"/>
                </a:solidFill>
                <a:latin typeface="Consolas"/>
              </a:rPr>
              <a:t>SECTION 07</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000" b="1" i="0">
                <a:solidFill>
                  <a:srgbClr val="E6EDF3"/>
                </a:solidFill>
                <a:latin typeface="Consolas"/>
              </a:rPr>
              <a:t>AI-Assisted Development Reflection</a:t>
            </a:r>
          </a:p>
        </p:txBody>
      </p:sp>
      <p:sp>
        <p:nvSpPr>
          <p:cNvPr id="5" name="Rounded Rectangle 4"/>
          <p:cNvSpPr/>
          <p:nvPr/>
        </p:nvSpPr>
        <p:spPr>
          <a:xfrm>
            <a:off x="548640" y="1554480"/>
            <a:ext cx="5440680" cy="219456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700784"/>
            <a:ext cx="5038344" cy="207749"/>
          </a:xfrm>
          <a:prstGeom prst="rect">
            <a:avLst/>
          </a:prstGeom>
          <a:noFill/>
        </p:spPr>
        <p:txBody>
          <a:bodyPr wrap="square" lIns="0" tIns="0" rIns="0" bIns="0" anchor="t">
            <a:spAutoFit/>
          </a:bodyPr>
          <a:lstStyle/>
          <a:p>
            <a:pPr algn="l"/>
            <a:r>
              <a:rPr lang="en-US" sz="1350" b="1" dirty="0">
                <a:solidFill>
                  <a:srgbClr val="3FB950"/>
                </a:solidFill>
                <a:latin typeface="Consolas"/>
              </a:rPr>
              <a:t>How</a:t>
            </a:r>
            <a:r>
              <a:rPr sz="1350" b="1" i="0" dirty="0">
                <a:solidFill>
                  <a:srgbClr val="3FB950"/>
                </a:solidFill>
                <a:latin typeface="Consolas"/>
              </a:rPr>
              <a:t> AI accelerated my work</a:t>
            </a:r>
          </a:p>
        </p:txBody>
      </p:sp>
      <p:sp>
        <p:nvSpPr>
          <p:cNvPr id="7" name="TextBox 6"/>
          <p:cNvSpPr txBox="1"/>
          <p:nvPr/>
        </p:nvSpPr>
        <p:spPr>
          <a:xfrm>
            <a:off x="749808" y="2029967"/>
            <a:ext cx="5056632" cy="730008"/>
          </a:xfrm>
          <a:prstGeom prst="rect">
            <a:avLst/>
          </a:prstGeom>
          <a:noFill/>
        </p:spPr>
        <p:txBody>
          <a:bodyPr wrap="square" lIns="0" tIns="0" rIns="0" bIns="0" anchor="t">
            <a:spAutoFit/>
          </a:bodyPr>
          <a:lstStyle/>
          <a:p>
            <a:pPr algn="l">
              <a:lnSpc>
                <a:spcPct val="106000"/>
              </a:lnSpc>
              <a:spcAft>
                <a:spcPts val="500"/>
              </a:spcAft>
            </a:pPr>
            <a:r>
              <a:rPr sz="1250" b="1" i="0" dirty="0">
                <a:solidFill>
                  <a:srgbClr val="3FB950"/>
                </a:solidFill>
                <a:latin typeface="Calibri"/>
              </a:rPr>
              <a:t>▸ </a:t>
            </a:r>
            <a:r>
              <a:rPr sz="1250" b="1" i="0" dirty="0">
                <a:solidFill>
                  <a:srgbClr val="E6EDF3"/>
                </a:solidFill>
                <a:latin typeface="Calibri"/>
              </a:rPr>
              <a:t>Speed: </a:t>
            </a:r>
            <a:r>
              <a:rPr sz="1250" b="0" i="0" dirty="0">
                <a:solidFill>
                  <a:srgbClr val="E6EDF3"/>
                </a:solidFill>
                <a:latin typeface="Calibri"/>
              </a:rPr>
              <a:t>boilerplate, test scaffolding, doc drafts</a:t>
            </a:r>
          </a:p>
          <a:p>
            <a:pPr algn="l">
              <a:lnSpc>
                <a:spcPct val="106000"/>
              </a:lnSpc>
              <a:spcAft>
                <a:spcPts val="500"/>
              </a:spcAft>
            </a:pPr>
            <a:r>
              <a:rPr sz="1250" b="1" i="0" dirty="0">
                <a:solidFill>
                  <a:srgbClr val="3FB950"/>
                </a:solidFill>
                <a:latin typeface="Calibri"/>
              </a:rPr>
              <a:t>▸ </a:t>
            </a:r>
            <a:r>
              <a:rPr sz="1250" b="1" i="0" dirty="0">
                <a:solidFill>
                  <a:srgbClr val="E6EDF3"/>
                </a:solidFill>
                <a:latin typeface="Calibri"/>
              </a:rPr>
              <a:t>Coverage: </a:t>
            </a:r>
            <a:r>
              <a:rPr sz="1250" b="0" i="0" dirty="0">
                <a:solidFill>
                  <a:srgbClr val="E6EDF3"/>
                </a:solidFill>
                <a:latin typeface="Calibri"/>
              </a:rPr>
              <a:t>suggesting edge cases I'd have missed </a:t>
            </a:r>
            <a:endParaRPr lang="en-US" sz="1250" b="0" i="0" dirty="0">
              <a:solidFill>
                <a:srgbClr val="E6EDF3"/>
              </a:solidFill>
              <a:latin typeface="Calibri"/>
            </a:endParaRPr>
          </a:p>
          <a:p>
            <a:pPr algn="l">
              <a:lnSpc>
                <a:spcPct val="106000"/>
              </a:lnSpc>
              <a:spcAft>
                <a:spcPts val="500"/>
              </a:spcAft>
            </a:pPr>
            <a:r>
              <a:rPr sz="1250" b="1" i="0" dirty="0">
                <a:solidFill>
                  <a:srgbClr val="3FB950"/>
                </a:solidFill>
                <a:latin typeface="Calibri"/>
              </a:rPr>
              <a:t>▸ </a:t>
            </a:r>
            <a:r>
              <a:rPr sz="1250" b="1" i="0" dirty="0">
                <a:solidFill>
                  <a:srgbClr val="E6EDF3"/>
                </a:solidFill>
                <a:latin typeface="Calibri"/>
              </a:rPr>
              <a:t>Explanation: </a:t>
            </a:r>
            <a:r>
              <a:rPr sz="1250" b="0" i="0" dirty="0">
                <a:solidFill>
                  <a:srgbClr val="E6EDF3"/>
                </a:solidFill>
                <a:latin typeface="Calibri"/>
              </a:rPr>
              <a:t>Git concepts, error messages, C++ idioms</a:t>
            </a:r>
          </a:p>
        </p:txBody>
      </p:sp>
      <p:sp>
        <p:nvSpPr>
          <p:cNvPr id="8" name="Rounded Rectangle 7"/>
          <p:cNvSpPr/>
          <p:nvPr/>
        </p:nvSpPr>
        <p:spPr>
          <a:xfrm>
            <a:off x="6199632" y="1554480"/>
            <a:ext cx="5440680" cy="219456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00784"/>
            <a:ext cx="5038344" cy="207749"/>
          </a:xfrm>
          <a:prstGeom prst="rect">
            <a:avLst/>
          </a:prstGeom>
          <a:noFill/>
        </p:spPr>
        <p:txBody>
          <a:bodyPr wrap="square" lIns="0" tIns="0" rIns="0" bIns="0" anchor="t">
            <a:spAutoFit/>
          </a:bodyPr>
          <a:lstStyle/>
          <a:p>
            <a:pPr algn="l"/>
            <a:r>
              <a:rPr sz="1350" b="1" i="0" dirty="0">
                <a:solidFill>
                  <a:srgbClr val="F85149"/>
                </a:solidFill>
                <a:latin typeface="Consolas"/>
              </a:rPr>
              <a:t>AI quality and limits</a:t>
            </a:r>
          </a:p>
        </p:txBody>
      </p:sp>
      <p:sp>
        <p:nvSpPr>
          <p:cNvPr id="10" name="TextBox 9"/>
          <p:cNvSpPr txBox="1"/>
          <p:nvPr/>
        </p:nvSpPr>
        <p:spPr>
          <a:xfrm>
            <a:off x="6400800" y="2029967"/>
            <a:ext cx="5056632" cy="933910"/>
          </a:xfrm>
          <a:prstGeom prst="rect">
            <a:avLst/>
          </a:prstGeom>
          <a:noFill/>
        </p:spPr>
        <p:txBody>
          <a:bodyPr wrap="square" lIns="0" tIns="0" rIns="0" bIns="0" anchor="t">
            <a:spAutoFit/>
          </a:bodyPr>
          <a:lstStyle/>
          <a:p>
            <a:pPr algn="l">
              <a:lnSpc>
                <a:spcPct val="106000"/>
              </a:lnSpc>
              <a:spcAft>
                <a:spcPts val="500"/>
              </a:spcAft>
            </a:pPr>
            <a:r>
              <a:rPr sz="1250" b="1" i="0" dirty="0">
                <a:solidFill>
                  <a:srgbClr val="F85149"/>
                </a:solidFill>
                <a:latin typeface="Calibri"/>
              </a:rPr>
              <a:t>▸ </a:t>
            </a:r>
            <a:r>
              <a:rPr sz="1250" b="1" i="0" dirty="0">
                <a:solidFill>
                  <a:srgbClr val="E6EDF3"/>
                </a:solidFill>
                <a:latin typeface="Calibri"/>
              </a:rPr>
              <a:t>Environment bugs: </a:t>
            </a:r>
            <a:r>
              <a:rPr lang="en-US" sz="1250" dirty="0">
                <a:solidFill>
                  <a:srgbClr val="E6EDF3"/>
                </a:solidFill>
                <a:latin typeface="Calibri"/>
              </a:rPr>
              <a:t>needing real debugging</a:t>
            </a:r>
          </a:p>
          <a:p>
            <a:pPr algn="l">
              <a:lnSpc>
                <a:spcPct val="106000"/>
              </a:lnSpc>
              <a:spcAft>
                <a:spcPts val="500"/>
              </a:spcAft>
            </a:pPr>
            <a:r>
              <a:rPr sz="1250" b="1" i="0" dirty="0">
                <a:solidFill>
                  <a:srgbClr val="F85149"/>
                </a:solidFill>
                <a:latin typeface="Calibri"/>
              </a:rPr>
              <a:t>▸ </a:t>
            </a:r>
            <a:r>
              <a:rPr sz="1250" b="1" i="0" dirty="0">
                <a:solidFill>
                  <a:srgbClr val="E6EDF3"/>
                </a:solidFill>
                <a:latin typeface="Calibri"/>
              </a:rPr>
              <a:t>Context it didn't have: </a:t>
            </a:r>
            <a:r>
              <a:rPr sz="1250" b="0" i="0" dirty="0">
                <a:solidFill>
                  <a:srgbClr val="E6EDF3"/>
                </a:solidFill>
                <a:latin typeface="Calibri"/>
              </a:rPr>
              <a:t>wrong test expectations (assumed unique Two Sum answers)</a:t>
            </a:r>
          </a:p>
          <a:p>
            <a:pPr algn="l">
              <a:lnSpc>
                <a:spcPct val="106000"/>
              </a:lnSpc>
              <a:spcAft>
                <a:spcPts val="500"/>
              </a:spcAft>
            </a:pPr>
            <a:r>
              <a:rPr sz="1250" b="1" i="0" dirty="0">
                <a:solidFill>
                  <a:srgbClr val="F85149"/>
                </a:solidFill>
                <a:latin typeface="Calibri"/>
              </a:rPr>
              <a:t>▸ </a:t>
            </a:r>
            <a:r>
              <a:rPr sz="1250" b="1" i="0" dirty="0">
                <a:solidFill>
                  <a:srgbClr val="E6EDF3"/>
                </a:solidFill>
                <a:latin typeface="Calibri"/>
              </a:rPr>
              <a:t>Judgment: </a:t>
            </a:r>
            <a:r>
              <a:rPr sz="1250" b="0" i="0" dirty="0">
                <a:solidFill>
                  <a:srgbClr val="E6EDF3"/>
                </a:solidFill>
                <a:latin typeface="Calibri"/>
              </a:rPr>
              <a:t>what the assignment actually required</a:t>
            </a:r>
          </a:p>
        </p:txBody>
      </p:sp>
      <p:sp>
        <p:nvSpPr>
          <p:cNvPr id="11" name="Rounded Rectangle 10"/>
          <p:cNvSpPr/>
          <p:nvPr/>
        </p:nvSpPr>
        <p:spPr>
          <a:xfrm>
            <a:off x="548640" y="3931920"/>
            <a:ext cx="5440680" cy="219456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078224"/>
            <a:ext cx="5038344" cy="207749"/>
          </a:xfrm>
          <a:prstGeom prst="rect">
            <a:avLst/>
          </a:prstGeom>
          <a:noFill/>
        </p:spPr>
        <p:txBody>
          <a:bodyPr wrap="square" lIns="0" tIns="0" rIns="0" bIns="0" anchor="t">
            <a:spAutoFit/>
          </a:bodyPr>
          <a:lstStyle/>
          <a:p>
            <a:pPr algn="l"/>
            <a:r>
              <a:rPr sz="1350" b="1" i="0" dirty="0">
                <a:solidFill>
                  <a:srgbClr val="58A6FF"/>
                </a:solidFill>
                <a:latin typeface="Consolas"/>
              </a:rPr>
              <a:t>Validating every AI output</a:t>
            </a:r>
          </a:p>
        </p:txBody>
      </p:sp>
      <p:sp>
        <p:nvSpPr>
          <p:cNvPr id="13" name="TextBox 12"/>
          <p:cNvSpPr txBox="1"/>
          <p:nvPr/>
        </p:nvSpPr>
        <p:spPr>
          <a:xfrm>
            <a:off x="749808" y="4407408"/>
            <a:ext cx="5056632" cy="730008"/>
          </a:xfrm>
          <a:prstGeom prst="rect">
            <a:avLst/>
          </a:prstGeom>
          <a:noFill/>
        </p:spPr>
        <p:txBody>
          <a:bodyPr wrap="square" lIns="0" tIns="0" rIns="0" bIns="0" anchor="t">
            <a:spAutoFit/>
          </a:bodyPr>
          <a:lstStyle/>
          <a:p>
            <a:pPr algn="l">
              <a:lnSpc>
                <a:spcPct val="106000"/>
              </a:lnSpc>
              <a:spcAft>
                <a:spcPts val="500"/>
              </a:spcAft>
            </a:pPr>
            <a:r>
              <a:rPr sz="1250" b="1" i="0" dirty="0">
                <a:solidFill>
                  <a:srgbClr val="58A6FF"/>
                </a:solidFill>
                <a:latin typeface="Calibri"/>
              </a:rPr>
              <a:t>▸ </a:t>
            </a:r>
            <a:r>
              <a:rPr sz="1250" b="1" i="0" dirty="0">
                <a:solidFill>
                  <a:srgbClr val="E6EDF3"/>
                </a:solidFill>
                <a:latin typeface="Calibri"/>
              </a:rPr>
              <a:t>Run the full suites: </a:t>
            </a:r>
            <a:r>
              <a:rPr sz="1250" b="0" i="0" dirty="0">
                <a:solidFill>
                  <a:srgbClr val="E6EDF3"/>
                </a:solidFill>
                <a:latin typeface="Calibri"/>
              </a:rPr>
              <a:t>40 checks (P0) + 164 checks (PB)</a:t>
            </a:r>
          </a:p>
          <a:p>
            <a:pPr algn="l">
              <a:lnSpc>
                <a:spcPct val="106000"/>
              </a:lnSpc>
              <a:spcAft>
                <a:spcPts val="500"/>
              </a:spcAft>
            </a:pPr>
            <a:r>
              <a:rPr sz="1250" b="1" i="0" dirty="0">
                <a:solidFill>
                  <a:srgbClr val="58A6FF"/>
                </a:solidFill>
                <a:latin typeface="Calibri"/>
              </a:rPr>
              <a:t>▸ </a:t>
            </a:r>
            <a:r>
              <a:rPr sz="1250" b="1" i="0" dirty="0">
                <a:solidFill>
                  <a:srgbClr val="E6EDF3"/>
                </a:solidFill>
                <a:latin typeface="Calibri"/>
              </a:rPr>
              <a:t>Cross-check reality: </a:t>
            </a:r>
            <a:r>
              <a:rPr sz="1250" b="0" i="0" dirty="0">
                <a:solidFill>
                  <a:srgbClr val="E6EDF3"/>
                </a:solidFill>
                <a:latin typeface="Calibri"/>
              </a:rPr>
              <a:t>known Iris statistics, CI </a:t>
            </a:r>
          </a:p>
          <a:p>
            <a:pPr algn="l">
              <a:lnSpc>
                <a:spcPct val="106000"/>
              </a:lnSpc>
              <a:spcAft>
                <a:spcPts val="500"/>
              </a:spcAft>
            </a:pPr>
            <a:r>
              <a:rPr sz="1250" b="1" i="0" dirty="0">
                <a:solidFill>
                  <a:srgbClr val="58A6FF"/>
                </a:solidFill>
                <a:latin typeface="Calibri"/>
              </a:rPr>
              <a:t>▸ </a:t>
            </a:r>
            <a:r>
              <a:rPr sz="1250" b="1" i="0" dirty="0">
                <a:solidFill>
                  <a:srgbClr val="E6EDF3"/>
                </a:solidFill>
                <a:latin typeface="Calibri"/>
              </a:rPr>
              <a:t>Read every line </a:t>
            </a:r>
            <a:r>
              <a:rPr sz="1250" b="0" i="0" dirty="0">
                <a:solidFill>
                  <a:srgbClr val="E6EDF3"/>
                </a:solidFill>
                <a:latin typeface="Calibri"/>
              </a:rPr>
              <a:t>before committing it</a:t>
            </a:r>
          </a:p>
        </p:txBody>
      </p:sp>
      <p:sp>
        <p:nvSpPr>
          <p:cNvPr id="14" name="Rounded Rectangle 13"/>
          <p:cNvSpPr/>
          <p:nvPr/>
        </p:nvSpPr>
        <p:spPr>
          <a:xfrm>
            <a:off x="6199632" y="3931920"/>
            <a:ext cx="5440680" cy="219456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4078224"/>
            <a:ext cx="5038344" cy="207749"/>
          </a:xfrm>
          <a:prstGeom prst="rect">
            <a:avLst/>
          </a:prstGeom>
          <a:noFill/>
        </p:spPr>
        <p:txBody>
          <a:bodyPr wrap="square" lIns="0" tIns="0" rIns="0" bIns="0" anchor="t">
            <a:spAutoFit/>
          </a:bodyPr>
          <a:lstStyle/>
          <a:p>
            <a:pPr algn="l"/>
            <a:r>
              <a:rPr lang="en-US" sz="1350" b="1" i="0" dirty="0">
                <a:solidFill>
                  <a:srgbClr val="2DD4BF"/>
                </a:solidFill>
                <a:latin typeface="Consolas"/>
              </a:rPr>
              <a:t>AI in Work</a:t>
            </a:r>
            <a:r>
              <a:rPr lang="en-US" sz="1350" b="1" dirty="0">
                <a:solidFill>
                  <a:srgbClr val="2DD4BF"/>
                </a:solidFill>
                <a:latin typeface="Consolas"/>
              </a:rPr>
              <a:t>flow</a:t>
            </a:r>
            <a:endParaRPr sz="1350" b="1" i="0" dirty="0">
              <a:solidFill>
                <a:srgbClr val="2DD4BF"/>
              </a:solidFill>
              <a:latin typeface="Consolas"/>
            </a:endParaRPr>
          </a:p>
        </p:txBody>
      </p:sp>
      <p:sp>
        <p:nvSpPr>
          <p:cNvPr id="16" name="TextBox 15"/>
          <p:cNvSpPr txBox="1"/>
          <p:nvPr/>
        </p:nvSpPr>
        <p:spPr>
          <a:xfrm>
            <a:off x="6400800" y="4407408"/>
            <a:ext cx="5056632" cy="730008"/>
          </a:xfrm>
          <a:prstGeom prst="rect">
            <a:avLst/>
          </a:prstGeom>
          <a:noFill/>
        </p:spPr>
        <p:txBody>
          <a:bodyPr wrap="square" lIns="0" tIns="0" rIns="0" bIns="0" anchor="t">
            <a:spAutoFit/>
          </a:bodyPr>
          <a:lstStyle/>
          <a:p>
            <a:pPr algn="l">
              <a:lnSpc>
                <a:spcPct val="106000"/>
              </a:lnSpc>
              <a:spcAft>
                <a:spcPts val="500"/>
              </a:spcAft>
            </a:pPr>
            <a:r>
              <a:rPr sz="1250" b="1" i="0" dirty="0">
                <a:solidFill>
                  <a:srgbClr val="2DD4BF"/>
                </a:solidFill>
                <a:latin typeface="Calibri"/>
              </a:rPr>
              <a:t>▸ </a:t>
            </a:r>
            <a:r>
              <a:rPr sz="1250" b="1" i="0" dirty="0">
                <a:solidFill>
                  <a:srgbClr val="E6EDF3"/>
                </a:solidFill>
                <a:latin typeface="Calibri"/>
              </a:rPr>
              <a:t>AI is an accelerator, not an autopilot</a:t>
            </a:r>
          </a:p>
          <a:p>
            <a:pPr algn="l">
              <a:lnSpc>
                <a:spcPct val="106000"/>
              </a:lnSpc>
              <a:spcAft>
                <a:spcPts val="500"/>
              </a:spcAft>
            </a:pPr>
            <a:r>
              <a:rPr sz="1250" b="1" i="0" dirty="0">
                <a:solidFill>
                  <a:srgbClr val="2DD4BF"/>
                </a:solidFill>
                <a:latin typeface="Calibri"/>
              </a:rPr>
              <a:t>▸ </a:t>
            </a:r>
            <a:r>
              <a:rPr sz="1250" b="1" i="0" dirty="0">
                <a:solidFill>
                  <a:srgbClr val="E6EDF3"/>
                </a:solidFill>
                <a:latin typeface="Calibri"/>
              </a:rPr>
              <a:t>Never commit code I can't explain</a:t>
            </a:r>
          </a:p>
          <a:p>
            <a:pPr algn="l">
              <a:lnSpc>
                <a:spcPct val="106000"/>
              </a:lnSpc>
              <a:spcAft>
                <a:spcPts val="500"/>
              </a:spcAft>
            </a:pPr>
            <a:r>
              <a:rPr sz="1250" b="1" i="0" dirty="0">
                <a:solidFill>
                  <a:srgbClr val="2DD4BF"/>
                </a:solidFill>
                <a:latin typeface="Calibri"/>
              </a:rPr>
              <a:t>▸ </a:t>
            </a:r>
            <a:r>
              <a:rPr sz="1250" b="1" i="0" dirty="0">
                <a:solidFill>
                  <a:srgbClr val="E6EDF3"/>
                </a:solidFill>
                <a:latin typeface="Calibri"/>
              </a:rPr>
              <a:t>Be transparent </a:t>
            </a:r>
            <a:r>
              <a:rPr sz="1250" b="0" i="0" dirty="0">
                <a:solidFill>
                  <a:srgbClr val="E6EDF3"/>
                </a:solidFill>
                <a:latin typeface="Calibri"/>
              </a:rPr>
              <a:t>about where AI was used </a:t>
            </a:r>
          </a:p>
        </p:txBody>
      </p:sp>
      <p:sp>
        <p:nvSpPr>
          <p:cNvPr id="17" name="TextBox 16"/>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1</a:t>
            </a:r>
            <a:r>
              <a:rPr lang="en-US" sz="1000" b="0" i="0" dirty="0">
                <a:solidFill>
                  <a:srgbClr val="8B949E"/>
                </a:solidFill>
                <a:latin typeface="Consolas"/>
              </a:rPr>
              <a:t>3</a:t>
            </a:r>
            <a:r>
              <a:rPr sz="1000" b="0" i="0" dirty="0">
                <a:solidFill>
                  <a:srgbClr val="8B949E"/>
                </a:solidFill>
                <a:latin typeface="Consolas"/>
              </a:rPr>
              <a:t> / </a:t>
            </a:r>
            <a:r>
              <a:rPr lang="en-US" sz="1000" dirty="0">
                <a:solidFill>
                  <a:srgbClr val="8B949E"/>
                </a:solidFill>
                <a:latin typeface="Consolas"/>
              </a:rPr>
              <a:t>15</a:t>
            </a:r>
            <a:endParaRPr sz="1000" b="0" i="0" dirty="0">
              <a:solidFill>
                <a:srgbClr val="8B949E"/>
              </a:solidFill>
              <a:latin typeface="Consolas"/>
            </a:endParaRPr>
          </a:p>
        </p:txBody>
      </p:sp>
      <p:sp>
        <p:nvSpPr>
          <p:cNvPr id="18" name="TextBox 17"/>
          <p:cNvSpPr txBox="1"/>
          <p:nvPr/>
        </p:nvSpPr>
        <p:spPr>
          <a:xfrm>
            <a:off x="548640" y="6473952"/>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274320"/>
          </a:xfrm>
          <a:prstGeom prst="rect">
            <a:avLst/>
          </a:prstGeom>
          <a:noFill/>
        </p:spPr>
        <p:txBody>
          <a:bodyPr wrap="square" lIns="0" tIns="0" rIns="0" bIns="0" anchor="t">
            <a:spAutoFit/>
          </a:bodyPr>
          <a:lstStyle/>
          <a:p>
            <a:pPr algn="l"/>
            <a:r>
              <a:rPr sz="1200" b="1" i="0">
                <a:solidFill>
                  <a:srgbClr val="58A6FF"/>
                </a:solidFill>
                <a:latin typeface="Consolas"/>
              </a:rPr>
              <a:t>SECTION 09</a:t>
            </a:r>
          </a:p>
        </p:txBody>
      </p:sp>
      <p:sp>
        <p:nvSpPr>
          <p:cNvPr id="4" name="TextBox 3"/>
          <p:cNvSpPr txBox="1"/>
          <p:nvPr/>
        </p:nvSpPr>
        <p:spPr>
          <a:xfrm>
            <a:off x="548640" y="658368"/>
            <a:ext cx="11064240" cy="685800"/>
          </a:xfrm>
          <a:prstGeom prst="rect">
            <a:avLst/>
          </a:prstGeom>
          <a:noFill/>
        </p:spPr>
        <p:txBody>
          <a:bodyPr wrap="square" lIns="0" tIns="0" rIns="0" bIns="0" anchor="t">
            <a:spAutoFit/>
          </a:bodyPr>
          <a:lstStyle/>
          <a:p>
            <a:pPr algn="l"/>
            <a:r>
              <a:rPr sz="3000" b="1" i="0">
                <a:solidFill>
                  <a:srgbClr val="E6EDF3"/>
                </a:solidFill>
                <a:latin typeface="Consolas"/>
              </a:rPr>
              <a:t>Final Reflection</a:t>
            </a:r>
          </a:p>
        </p:txBody>
      </p:sp>
      <p:sp>
        <p:nvSpPr>
          <p:cNvPr id="5" name="Rounded Rectangle 4"/>
          <p:cNvSpPr/>
          <p:nvPr/>
        </p:nvSpPr>
        <p:spPr>
          <a:xfrm>
            <a:off x="548640" y="1600200"/>
            <a:ext cx="3611880" cy="42062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746504"/>
            <a:ext cx="3209544" cy="274320"/>
          </a:xfrm>
          <a:prstGeom prst="rect">
            <a:avLst/>
          </a:prstGeom>
          <a:noFill/>
        </p:spPr>
        <p:txBody>
          <a:bodyPr wrap="square" lIns="0" tIns="0" rIns="0" bIns="0" anchor="t">
            <a:spAutoFit/>
          </a:bodyPr>
          <a:lstStyle/>
          <a:p>
            <a:pPr algn="l"/>
            <a:r>
              <a:rPr sz="1350" b="1" i="0">
                <a:solidFill>
                  <a:srgbClr val="3FB950"/>
                </a:solidFill>
                <a:latin typeface="Consolas"/>
              </a:rPr>
              <a:t>What I learned</a:t>
            </a:r>
          </a:p>
        </p:txBody>
      </p:sp>
      <p:sp>
        <p:nvSpPr>
          <p:cNvPr id="7" name="TextBox 6"/>
          <p:cNvSpPr txBox="1"/>
          <p:nvPr/>
        </p:nvSpPr>
        <p:spPr>
          <a:xfrm>
            <a:off x="749808" y="2075688"/>
            <a:ext cx="3227832" cy="1920240"/>
          </a:xfrm>
          <a:prstGeom prst="rect">
            <a:avLst/>
          </a:prstGeom>
          <a:noFill/>
        </p:spPr>
        <p:txBody>
          <a:bodyPr wrap="square" lIns="0" tIns="0" rIns="0" bIns="0" anchor="t">
            <a:spAutoFit/>
          </a:bodyPr>
          <a:lstStyle/>
          <a:p>
            <a:pPr algn="l">
              <a:lnSpc>
                <a:spcPct val="106000"/>
              </a:lnSpc>
              <a:spcAft>
                <a:spcPts val="500"/>
              </a:spcAft>
            </a:pPr>
            <a:r>
              <a:rPr sz="1250" b="1" i="0">
                <a:solidFill>
                  <a:srgbClr val="3FB950"/>
                </a:solidFill>
                <a:latin typeface="Calibri"/>
              </a:rPr>
              <a:t>▸ </a:t>
            </a:r>
            <a:r>
              <a:rPr sz="1250" b="0" i="0">
                <a:solidFill>
                  <a:srgbClr val="E6EDF3"/>
                </a:solidFill>
                <a:latin typeface="Calibri"/>
              </a:rPr>
              <a:t>A professional workflow: branch, commit, PR, review, merge</a:t>
            </a:r>
          </a:p>
          <a:p>
            <a:pPr algn="l">
              <a:lnSpc>
                <a:spcPct val="106000"/>
              </a:lnSpc>
              <a:spcAft>
                <a:spcPts val="500"/>
              </a:spcAft>
            </a:pPr>
            <a:r>
              <a:rPr sz="1250" b="1" i="0">
                <a:solidFill>
                  <a:srgbClr val="3FB950"/>
                </a:solidFill>
                <a:latin typeface="Calibri"/>
              </a:rPr>
              <a:t>▸ </a:t>
            </a:r>
            <a:r>
              <a:rPr sz="1250" b="0" i="0">
                <a:solidFill>
                  <a:srgbClr val="E6EDF3"/>
                </a:solidFill>
                <a:latin typeface="Calibri"/>
              </a:rPr>
              <a:t>Tests and docs are what make code trustworthy</a:t>
            </a:r>
          </a:p>
          <a:p>
            <a:pPr algn="l">
              <a:lnSpc>
                <a:spcPct val="106000"/>
              </a:lnSpc>
              <a:spcAft>
                <a:spcPts val="500"/>
              </a:spcAft>
            </a:pPr>
            <a:r>
              <a:rPr sz="1250" b="1" i="0">
                <a:solidFill>
                  <a:srgbClr val="3FB950"/>
                </a:solidFill>
                <a:latin typeface="Calibri"/>
              </a:rPr>
              <a:t>▸ </a:t>
            </a:r>
            <a:r>
              <a:rPr sz="1250" b="0" i="0">
                <a:solidFill>
                  <a:srgbClr val="E6EDF3"/>
                </a:solidFill>
                <a:latin typeface="Calibri"/>
              </a:rPr>
              <a:t>CI catches what I forget</a:t>
            </a:r>
          </a:p>
          <a:p>
            <a:pPr algn="l">
              <a:lnSpc>
                <a:spcPct val="106000"/>
              </a:lnSpc>
              <a:spcAft>
                <a:spcPts val="500"/>
              </a:spcAft>
            </a:pPr>
            <a:r>
              <a:rPr sz="1250" b="1" i="0">
                <a:solidFill>
                  <a:srgbClr val="3FB950"/>
                </a:solidFill>
                <a:latin typeface="Calibri"/>
              </a:rPr>
              <a:t>▸ </a:t>
            </a:r>
            <a:r>
              <a:rPr sz="1250" b="0" i="0">
                <a:solidFill>
                  <a:srgbClr val="E6EDF3"/>
                </a:solidFill>
                <a:latin typeface="Calibri"/>
              </a:rPr>
              <a:t>Performance is about measured trade-offs, not guesses</a:t>
            </a:r>
          </a:p>
          <a:p>
            <a:pPr algn="l">
              <a:lnSpc>
                <a:spcPct val="106000"/>
              </a:lnSpc>
              <a:spcAft>
                <a:spcPts val="500"/>
              </a:spcAft>
            </a:pPr>
            <a:r>
              <a:rPr sz="1250" b="1" i="0">
                <a:solidFill>
                  <a:srgbClr val="3FB950"/>
                </a:solidFill>
                <a:latin typeface="Calibri"/>
              </a:rPr>
              <a:t>▸ </a:t>
            </a:r>
            <a:r>
              <a:rPr sz="1250" b="0" i="0">
                <a:solidFill>
                  <a:srgbClr val="E6EDF3"/>
                </a:solidFill>
                <a:latin typeface="Calibri"/>
              </a:rPr>
              <a:t>AI is powerful only when paired with verification</a:t>
            </a:r>
          </a:p>
        </p:txBody>
      </p:sp>
      <p:sp>
        <p:nvSpPr>
          <p:cNvPr id="8" name="Rounded Rectangle 7"/>
          <p:cNvSpPr/>
          <p:nvPr/>
        </p:nvSpPr>
        <p:spPr>
          <a:xfrm>
            <a:off x="4297680" y="1600200"/>
            <a:ext cx="3611880" cy="42062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98848" y="1746504"/>
            <a:ext cx="3209544" cy="274320"/>
          </a:xfrm>
          <a:prstGeom prst="rect">
            <a:avLst/>
          </a:prstGeom>
          <a:noFill/>
        </p:spPr>
        <p:txBody>
          <a:bodyPr wrap="square" lIns="0" tIns="0" rIns="0" bIns="0" anchor="t">
            <a:spAutoFit/>
          </a:bodyPr>
          <a:lstStyle/>
          <a:p>
            <a:pPr algn="l"/>
            <a:r>
              <a:rPr sz="1350" b="1" i="0">
                <a:solidFill>
                  <a:srgbClr val="D29922"/>
                </a:solidFill>
                <a:latin typeface="Consolas"/>
              </a:rPr>
              <a:t>What I would improve</a:t>
            </a:r>
          </a:p>
        </p:txBody>
      </p:sp>
      <p:sp>
        <p:nvSpPr>
          <p:cNvPr id="10" name="TextBox 9"/>
          <p:cNvSpPr txBox="1"/>
          <p:nvPr/>
        </p:nvSpPr>
        <p:spPr>
          <a:xfrm>
            <a:off x="4498848" y="2075688"/>
            <a:ext cx="3227832" cy="1920240"/>
          </a:xfrm>
          <a:prstGeom prst="rect">
            <a:avLst/>
          </a:prstGeom>
          <a:noFill/>
        </p:spPr>
        <p:txBody>
          <a:bodyPr wrap="square" lIns="0" tIns="0" rIns="0" bIns="0" anchor="t">
            <a:spAutoFit/>
          </a:bodyPr>
          <a:lstStyle/>
          <a:p>
            <a:pPr algn="l">
              <a:lnSpc>
                <a:spcPct val="106000"/>
              </a:lnSpc>
              <a:spcAft>
                <a:spcPts val="500"/>
              </a:spcAft>
            </a:pPr>
            <a:r>
              <a:rPr sz="1250" b="1" i="0">
                <a:solidFill>
                  <a:srgbClr val="D29922"/>
                </a:solidFill>
                <a:latin typeface="Calibri"/>
              </a:rPr>
              <a:t>▸ </a:t>
            </a:r>
            <a:r>
              <a:rPr sz="1250" b="0" i="0">
                <a:solidFill>
                  <a:srgbClr val="E6EDF3"/>
                </a:solidFill>
                <a:latin typeface="Calibri"/>
              </a:rPr>
              <a:t>Smaller, more frequent commits with sharper messages</a:t>
            </a:r>
          </a:p>
          <a:p>
            <a:pPr algn="l">
              <a:lnSpc>
                <a:spcPct val="106000"/>
              </a:lnSpc>
              <a:spcAft>
                <a:spcPts val="500"/>
              </a:spcAft>
            </a:pPr>
            <a:r>
              <a:rPr sz="1250" b="1" i="0">
                <a:solidFill>
                  <a:srgbClr val="D29922"/>
                </a:solidFill>
                <a:latin typeface="Calibri"/>
              </a:rPr>
              <a:t>▸ </a:t>
            </a:r>
            <a:r>
              <a:rPr sz="1250" b="0" i="0">
                <a:solidFill>
                  <a:srgbClr val="E6EDF3"/>
                </a:solidFill>
                <a:latin typeface="Calibri"/>
              </a:rPr>
              <a:t>Set up CI on day one, not after the code works</a:t>
            </a:r>
          </a:p>
          <a:p>
            <a:pPr algn="l">
              <a:lnSpc>
                <a:spcPct val="106000"/>
              </a:lnSpc>
              <a:spcAft>
                <a:spcPts val="500"/>
              </a:spcAft>
            </a:pPr>
            <a:r>
              <a:rPr sz="1250" b="1" i="0">
                <a:solidFill>
                  <a:srgbClr val="D29922"/>
                </a:solidFill>
                <a:latin typeface="Calibri"/>
              </a:rPr>
              <a:t>▸ </a:t>
            </a:r>
            <a:r>
              <a:rPr sz="1250" b="0" i="0">
                <a:solidFill>
                  <a:srgbClr val="E6EDF3"/>
                </a:solidFill>
                <a:latin typeface="Calibri"/>
              </a:rPr>
              <a:t>Finish the Docker packaging for Project 0</a:t>
            </a:r>
          </a:p>
          <a:p>
            <a:pPr algn="l">
              <a:lnSpc>
                <a:spcPct val="106000"/>
              </a:lnSpc>
              <a:spcAft>
                <a:spcPts val="500"/>
              </a:spcAft>
            </a:pPr>
            <a:r>
              <a:rPr sz="1250" b="1" i="0">
                <a:solidFill>
                  <a:srgbClr val="D29922"/>
                </a:solidFill>
                <a:latin typeface="Calibri"/>
              </a:rPr>
              <a:t>▸ </a:t>
            </a:r>
            <a:r>
              <a:rPr sz="1250" b="0" i="0">
                <a:solidFill>
                  <a:srgbClr val="E6EDF3"/>
                </a:solidFill>
                <a:latin typeface="Calibri"/>
              </a:rPr>
              <a:t>Add range (sorted) indexes and LEFT JOIN to Project B</a:t>
            </a:r>
          </a:p>
          <a:p>
            <a:pPr algn="l">
              <a:lnSpc>
                <a:spcPct val="106000"/>
              </a:lnSpc>
              <a:spcAft>
                <a:spcPts val="500"/>
              </a:spcAft>
            </a:pPr>
            <a:r>
              <a:rPr sz="1250" b="1" i="0">
                <a:solidFill>
                  <a:srgbClr val="D29922"/>
                </a:solidFill>
                <a:latin typeface="Calibri"/>
              </a:rPr>
              <a:t>▸ </a:t>
            </a:r>
            <a:r>
              <a:rPr sz="1250" b="0" i="0">
                <a:solidFill>
                  <a:srgbClr val="E6EDF3"/>
                </a:solidFill>
                <a:latin typeface="Calibri"/>
              </a:rPr>
              <a:t>Practice code review with classmates, not just solo PRs</a:t>
            </a:r>
          </a:p>
        </p:txBody>
      </p:sp>
      <p:sp>
        <p:nvSpPr>
          <p:cNvPr id="11" name="Rounded Rectangle 10"/>
          <p:cNvSpPr/>
          <p:nvPr/>
        </p:nvSpPr>
        <p:spPr>
          <a:xfrm>
            <a:off x="8046720" y="1600200"/>
            <a:ext cx="3611880" cy="420624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47888" y="1746504"/>
            <a:ext cx="3209544" cy="274320"/>
          </a:xfrm>
          <a:prstGeom prst="rect">
            <a:avLst/>
          </a:prstGeom>
          <a:noFill/>
        </p:spPr>
        <p:txBody>
          <a:bodyPr wrap="square" lIns="0" tIns="0" rIns="0" bIns="0" anchor="t">
            <a:spAutoFit/>
          </a:bodyPr>
          <a:lstStyle/>
          <a:p>
            <a:pPr algn="l"/>
            <a:r>
              <a:rPr sz="1350" b="1" i="0">
                <a:solidFill>
                  <a:srgbClr val="58A6FF"/>
                </a:solidFill>
                <a:latin typeface="Consolas"/>
              </a:rPr>
              <a:t>How this helps my future</a:t>
            </a:r>
          </a:p>
        </p:txBody>
      </p:sp>
      <p:sp>
        <p:nvSpPr>
          <p:cNvPr id="13" name="TextBox 12"/>
          <p:cNvSpPr txBox="1"/>
          <p:nvPr/>
        </p:nvSpPr>
        <p:spPr>
          <a:xfrm>
            <a:off x="8247888" y="2075688"/>
            <a:ext cx="3227832" cy="1814920"/>
          </a:xfrm>
          <a:prstGeom prst="rect">
            <a:avLst/>
          </a:prstGeom>
          <a:noFill/>
        </p:spPr>
        <p:txBody>
          <a:bodyPr wrap="square" lIns="0" tIns="0" rIns="0" bIns="0" anchor="t">
            <a:spAutoFit/>
          </a:bodyPr>
          <a:lstStyle/>
          <a:p>
            <a:pPr algn="l">
              <a:lnSpc>
                <a:spcPct val="106000"/>
              </a:lnSpc>
              <a:spcAft>
                <a:spcPts val="500"/>
              </a:spcAft>
            </a:pPr>
            <a:r>
              <a:rPr sz="1250" b="1" i="0" dirty="0">
                <a:solidFill>
                  <a:srgbClr val="58A6FF"/>
                </a:solidFill>
                <a:latin typeface="Calibri"/>
              </a:rPr>
              <a:t>▸ </a:t>
            </a:r>
            <a:r>
              <a:rPr sz="1250" b="0" i="0" dirty="0">
                <a:solidFill>
                  <a:srgbClr val="E6EDF3"/>
                </a:solidFill>
                <a:latin typeface="Calibri"/>
              </a:rPr>
              <a:t>These are the exact tools used in internships and industry</a:t>
            </a:r>
          </a:p>
          <a:p>
            <a:pPr algn="l">
              <a:lnSpc>
                <a:spcPct val="106000"/>
              </a:lnSpc>
              <a:spcAft>
                <a:spcPts val="500"/>
              </a:spcAft>
            </a:pPr>
            <a:r>
              <a:rPr sz="1250" b="1" i="0" dirty="0">
                <a:solidFill>
                  <a:srgbClr val="58A6FF"/>
                </a:solidFill>
                <a:latin typeface="Calibri"/>
              </a:rPr>
              <a:t>▸ </a:t>
            </a:r>
            <a:r>
              <a:rPr sz="1250" b="0" i="0" dirty="0">
                <a:solidFill>
                  <a:srgbClr val="E6EDF3"/>
                </a:solidFill>
                <a:latin typeface="Calibri"/>
              </a:rPr>
              <a:t>A public GitHub portfolio that shows process, not just results</a:t>
            </a:r>
          </a:p>
          <a:p>
            <a:pPr algn="l">
              <a:lnSpc>
                <a:spcPct val="106000"/>
              </a:lnSpc>
              <a:spcAft>
                <a:spcPts val="500"/>
              </a:spcAft>
            </a:pPr>
            <a:r>
              <a:rPr sz="1250" b="1" i="0" dirty="0">
                <a:solidFill>
                  <a:srgbClr val="58A6FF"/>
                </a:solidFill>
                <a:latin typeface="Calibri"/>
              </a:rPr>
              <a:t>▸ </a:t>
            </a:r>
            <a:r>
              <a:rPr sz="1250" b="0" i="0" dirty="0">
                <a:solidFill>
                  <a:srgbClr val="E6EDF3"/>
                </a:solidFill>
                <a:latin typeface="Calibri"/>
              </a:rPr>
              <a:t>Confidence to build non-trivial systems (database) from scratch</a:t>
            </a:r>
          </a:p>
          <a:p>
            <a:pPr algn="l">
              <a:lnSpc>
                <a:spcPct val="106000"/>
              </a:lnSpc>
              <a:spcAft>
                <a:spcPts val="500"/>
              </a:spcAft>
            </a:pPr>
            <a:r>
              <a:rPr sz="1250" b="1" i="0" dirty="0">
                <a:solidFill>
                  <a:srgbClr val="58A6FF"/>
                </a:solidFill>
                <a:latin typeface="Calibri"/>
              </a:rPr>
              <a:t>▸ </a:t>
            </a:r>
            <a:r>
              <a:rPr sz="1250" b="0" i="0" dirty="0">
                <a:solidFill>
                  <a:srgbClr val="E6EDF3"/>
                </a:solidFill>
                <a:latin typeface="Calibri"/>
              </a:rPr>
              <a:t>A verification habit that transfers to every AI-era workflow</a:t>
            </a:r>
          </a:p>
        </p:txBody>
      </p:sp>
      <p:sp>
        <p:nvSpPr>
          <p:cNvPr id="14" name="TextBox 13"/>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1</a:t>
            </a:r>
            <a:r>
              <a:rPr lang="en-US" sz="1000" b="0" i="0" dirty="0">
                <a:solidFill>
                  <a:srgbClr val="8B949E"/>
                </a:solidFill>
                <a:latin typeface="Consolas"/>
              </a:rPr>
              <a:t>4</a:t>
            </a:r>
            <a:r>
              <a:rPr sz="1000" b="0" i="0" dirty="0">
                <a:solidFill>
                  <a:srgbClr val="8B949E"/>
                </a:solidFill>
                <a:latin typeface="Consolas"/>
              </a:rPr>
              <a:t> / 1</a:t>
            </a:r>
            <a:r>
              <a:rPr lang="en-US" sz="1000" b="0" i="0" dirty="0">
                <a:solidFill>
                  <a:srgbClr val="8B949E"/>
                </a:solidFill>
                <a:latin typeface="Consolas"/>
              </a:rPr>
              <a:t>5</a:t>
            </a:r>
            <a:endParaRPr sz="1000" b="0" i="0" dirty="0">
              <a:solidFill>
                <a:srgbClr val="8B949E"/>
              </a:solidFill>
              <a:latin typeface="Consolas"/>
            </a:endParaRPr>
          </a:p>
        </p:txBody>
      </p:sp>
      <p:sp>
        <p:nvSpPr>
          <p:cNvPr id="15" name="TextBox 14"/>
          <p:cNvSpPr txBox="1"/>
          <p:nvPr/>
        </p:nvSpPr>
        <p:spPr>
          <a:xfrm>
            <a:off x="548640" y="6473952"/>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685800" y="1118445"/>
            <a:ext cx="7315200" cy="914400"/>
          </a:xfrm>
          <a:prstGeom prst="rect">
            <a:avLst/>
          </a:prstGeom>
          <a:noFill/>
        </p:spPr>
        <p:txBody>
          <a:bodyPr wrap="square" lIns="0" tIns="0" rIns="0" bIns="0" anchor="t">
            <a:spAutoFit/>
          </a:bodyPr>
          <a:lstStyle/>
          <a:p>
            <a:pPr algn="l"/>
            <a:r>
              <a:rPr sz="4800" b="1" i="0">
                <a:solidFill>
                  <a:srgbClr val="E6EDF3"/>
                </a:solidFill>
                <a:latin typeface="Consolas"/>
              </a:rPr>
              <a:t>Thank you!</a:t>
            </a:r>
          </a:p>
        </p:txBody>
      </p:sp>
      <p:sp>
        <p:nvSpPr>
          <p:cNvPr id="5" name="Rounded Rectangle 4"/>
          <p:cNvSpPr/>
          <p:nvPr/>
        </p:nvSpPr>
        <p:spPr>
          <a:xfrm>
            <a:off x="1133856" y="2387258"/>
            <a:ext cx="6583680" cy="2651760"/>
          </a:xfrm>
          <a:prstGeom prst="roundRect">
            <a:avLst>
              <a:gd name="adj" fmla="val 6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280160" y="2515274"/>
            <a:ext cx="100584" cy="100584"/>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481328" y="2515274"/>
            <a:ext cx="100584" cy="100584"/>
          </a:xfrm>
          <a:prstGeom prst="ellipse">
            <a:avLst/>
          </a:prstGeom>
          <a:solidFill>
            <a:srgbClr val="D299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82496" y="2515274"/>
            <a:ext cx="100584" cy="100584"/>
          </a:xfrm>
          <a:prstGeom prst="ellipse">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56816" y="2478698"/>
            <a:ext cx="5669280" cy="219456"/>
          </a:xfrm>
          <a:prstGeom prst="rect">
            <a:avLst/>
          </a:prstGeom>
          <a:noFill/>
        </p:spPr>
        <p:txBody>
          <a:bodyPr wrap="square" lIns="0" tIns="0" rIns="0" bIns="0" anchor="t">
            <a:spAutoFit/>
          </a:bodyPr>
          <a:lstStyle/>
          <a:p>
            <a:pPr algn="l"/>
            <a:r>
              <a:rPr sz="1050" b="0" i="0">
                <a:solidFill>
                  <a:srgbClr val="8B949E"/>
                </a:solidFill>
                <a:latin typeface="Consolas"/>
              </a:rPr>
              <a:t>links</a:t>
            </a:r>
          </a:p>
        </p:txBody>
      </p:sp>
      <p:sp>
        <p:nvSpPr>
          <p:cNvPr id="10" name="Rectangle 9"/>
          <p:cNvSpPr/>
          <p:nvPr/>
        </p:nvSpPr>
        <p:spPr>
          <a:xfrm>
            <a:off x="1133856" y="2693074"/>
            <a:ext cx="6583680" cy="10160"/>
          </a:xfrm>
          <a:prstGeom prst="rect">
            <a:avLst/>
          </a:prstGeom>
          <a:solidFill>
            <a:srgbClr val="303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35024" y="2862746"/>
            <a:ext cx="6309360" cy="1107098"/>
          </a:xfrm>
          <a:prstGeom prst="rect">
            <a:avLst/>
          </a:prstGeom>
          <a:noFill/>
        </p:spPr>
        <p:txBody>
          <a:bodyPr wrap="square" lIns="0" tIns="0" rIns="0" bIns="0" anchor="t">
            <a:spAutoFit/>
          </a:bodyPr>
          <a:lstStyle/>
          <a:p>
            <a:pPr algn="l">
              <a:lnSpc>
                <a:spcPct val="112000"/>
              </a:lnSpc>
            </a:pPr>
            <a:r>
              <a:rPr sz="1300" b="0" i="0" dirty="0">
                <a:solidFill>
                  <a:srgbClr val="8B949E"/>
                </a:solidFill>
                <a:latin typeface="Consolas"/>
              </a:rPr>
              <a:t>profile   </a:t>
            </a:r>
            <a:r>
              <a:rPr sz="1300" b="0" i="0" dirty="0">
                <a:solidFill>
                  <a:srgbClr val="58A6FF"/>
                </a:solidFill>
                <a:latin typeface="Consolas"/>
              </a:rPr>
              <a:t>github.com/max-shen378</a:t>
            </a:r>
          </a:p>
          <a:p>
            <a:pPr algn="l">
              <a:lnSpc>
                <a:spcPct val="112000"/>
              </a:lnSpc>
            </a:pPr>
            <a:r>
              <a:rPr sz="1300" b="0" i="0" dirty="0">
                <a:solidFill>
                  <a:srgbClr val="8B949E"/>
                </a:solidFill>
                <a:latin typeface="Consolas"/>
              </a:rPr>
              <a:t>website   </a:t>
            </a:r>
            <a:r>
              <a:rPr sz="1300" b="0" i="0" dirty="0">
                <a:solidFill>
                  <a:srgbClr val="2DD4BF"/>
                </a:solidFill>
                <a:latin typeface="Consolas"/>
              </a:rPr>
              <a:t>max-shen378.github.io</a:t>
            </a:r>
          </a:p>
          <a:p>
            <a:pPr algn="l">
              <a:lnSpc>
                <a:spcPct val="112000"/>
              </a:lnSpc>
            </a:pPr>
            <a:r>
              <a:rPr sz="1300" b="0" i="0" dirty="0">
                <a:solidFill>
                  <a:srgbClr val="8B949E"/>
                </a:solidFill>
                <a:latin typeface="Consolas"/>
              </a:rPr>
              <a:t>course    </a:t>
            </a:r>
            <a:r>
              <a:rPr sz="1300" b="0" i="0" dirty="0">
                <a:solidFill>
                  <a:srgbClr val="E6EDF3"/>
                </a:solidFill>
                <a:latin typeface="Consolas"/>
              </a:rPr>
              <a:t>github.com/max-shen378/11402_CS351</a:t>
            </a:r>
          </a:p>
          <a:p>
            <a:pPr algn="l">
              <a:lnSpc>
                <a:spcPct val="112000"/>
              </a:lnSpc>
            </a:pPr>
            <a:r>
              <a:rPr sz="1300" b="0" i="0" dirty="0">
                <a:solidFill>
                  <a:srgbClr val="8B949E"/>
                </a:solidFill>
                <a:latin typeface="Consolas"/>
              </a:rPr>
              <a:t>project 0 </a:t>
            </a:r>
            <a:r>
              <a:rPr sz="1300" b="0" i="0" dirty="0">
                <a:solidFill>
                  <a:srgbClr val="E6EDF3"/>
                </a:solidFill>
                <a:latin typeface="Consolas"/>
              </a:rPr>
              <a:t>github.com/max-shen378/11402_CS5351_Project0</a:t>
            </a:r>
          </a:p>
          <a:p>
            <a:pPr algn="l">
              <a:lnSpc>
                <a:spcPct val="112000"/>
              </a:lnSpc>
            </a:pPr>
            <a:r>
              <a:rPr sz="1300" b="0" i="0" dirty="0">
                <a:solidFill>
                  <a:srgbClr val="8B949E"/>
                </a:solidFill>
                <a:latin typeface="Consolas"/>
              </a:rPr>
              <a:t>project B </a:t>
            </a:r>
            <a:r>
              <a:rPr sz="1300" b="0" i="0" dirty="0">
                <a:solidFill>
                  <a:srgbClr val="E6EDF3"/>
                </a:solidFill>
                <a:latin typeface="Consolas"/>
              </a:rPr>
              <a:t>github.com/max-shen378/11402_CS5351_ProjectB</a:t>
            </a:r>
          </a:p>
        </p:txBody>
      </p:sp>
      <p:sp>
        <p:nvSpPr>
          <p:cNvPr id="13" name="TextBox 12"/>
          <p:cNvSpPr txBox="1"/>
          <p:nvPr/>
        </p:nvSpPr>
        <p:spPr>
          <a:xfrm>
            <a:off x="502920" y="6083384"/>
            <a:ext cx="10789920" cy="184666"/>
          </a:xfrm>
          <a:prstGeom prst="rect">
            <a:avLst/>
          </a:prstGeom>
          <a:noFill/>
        </p:spPr>
        <p:txBody>
          <a:bodyPr wrap="square" lIns="0" tIns="0" rIns="0" bIns="0" anchor="t">
            <a:spAutoFit/>
          </a:bodyPr>
          <a:lstStyle/>
          <a:p>
            <a:pPr algn="l"/>
            <a:r>
              <a:rPr sz="1200" b="0" i="0" dirty="0">
                <a:solidFill>
                  <a:srgbClr val="8B949E"/>
                </a:solidFill>
                <a:latin typeface="Consolas"/>
              </a:rPr>
              <a:t>CS351 · </a:t>
            </a:r>
            <a:r>
              <a:rPr lang="en-US" sz="1200" b="0" i="0" dirty="0">
                <a:solidFill>
                  <a:srgbClr val="8B949E"/>
                </a:solidFill>
                <a:latin typeface="Consolas"/>
              </a:rPr>
              <a:t>AI ASSISTED SOFTWARE DEVELOPMENT</a:t>
            </a:r>
            <a:r>
              <a:rPr sz="1200" b="0" i="0" dirty="0">
                <a:solidFill>
                  <a:srgbClr val="8B949E"/>
                </a:solidFill>
                <a:latin typeface="Consolas"/>
              </a:rPr>
              <a:t>· Yuan Ze University · Max Shen · 1123534</a:t>
            </a:r>
          </a:p>
        </p:txBody>
      </p:sp>
      <p:sp>
        <p:nvSpPr>
          <p:cNvPr id="14" name="TextBox 13"/>
          <p:cNvSpPr txBox="1"/>
          <p:nvPr/>
        </p:nvSpPr>
        <p:spPr>
          <a:xfrm>
            <a:off x="10881360" y="6473952"/>
            <a:ext cx="822960" cy="153888"/>
          </a:xfrm>
          <a:prstGeom prst="rect">
            <a:avLst/>
          </a:prstGeom>
          <a:noFill/>
        </p:spPr>
        <p:txBody>
          <a:bodyPr wrap="square" lIns="0" tIns="0" rIns="0" bIns="0" anchor="t">
            <a:spAutoFit/>
          </a:bodyPr>
          <a:lstStyle/>
          <a:p>
            <a:pPr algn="r"/>
            <a:r>
              <a:rPr sz="1000" b="0" i="0" dirty="0">
                <a:solidFill>
                  <a:srgbClr val="8B949E"/>
                </a:solidFill>
                <a:latin typeface="Consolas"/>
              </a:rPr>
              <a:t>1</a:t>
            </a:r>
            <a:r>
              <a:rPr lang="en-US" sz="1000" b="0" i="0" dirty="0">
                <a:solidFill>
                  <a:srgbClr val="8B949E"/>
                </a:solidFill>
                <a:latin typeface="Consolas"/>
              </a:rPr>
              <a:t>5</a:t>
            </a:r>
            <a:r>
              <a:rPr sz="1000" b="0" i="0" dirty="0">
                <a:solidFill>
                  <a:srgbClr val="8B949E"/>
                </a:solidFill>
                <a:latin typeface="Consolas"/>
              </a:rPr>
              <a:t> / 1</a:t>
            </a:r>
            <a:r>
              <a:rPr lang="en-US" sz="1000" b="0" i="0" dirty="0">
                <a:solidFill>
                  <a:srgbClr val="8B949E"/>
                </a:solidFill>
                <a:latin typeface="Consolas"/>
              </a:rPr>
              <a:t>5</a:t>
            </a:r>
            <a:endParaRPr sz="1000" b="0" i="0" dirty="0">
              <a:solidFill>
                <a:srgbClr val="8B949E"/>
              </a:solidFill>
              <a:latin typeface="Consolas"/>
            </a:endParaRPr>
          </a:p>
        </p:txBody>
      </p:sp>
      <p:sp>
        <p:nvSpPr>
          <p:cNvPr id="15" name="TextBox 14"/>
          <p:cNvSpPr txBox="1"/>
          <p:nvPr/>
        </p:nvSpPr>
        <p:spPr>
          <a:xfrm>
            <a:off x="128762" y="178816"/>
            <a:ext cx="4572000" cy="274320"/>
          </a:xfrm>
          <a:prstGeom prst="rect">
            <a:avLst/>
          </a:prstGeom>
          <a:noFill/>
        </p:spPr>
        <p:txBody>
          <a:bodyPr wrap="square" lIns="0" tIns="0" rIns="0" bIns="0" anchor="t">
            <a:spAutoFit/>
          </a:bodyPr>
          <a:lstStyle/>
          <a:p>
            <a:pPr algn="l"/>
            <a:r>
              <a:rPr sz="1000" b="0" i="0">
                <a:solidFill>
                  <a:srgbClr val="8B949E"/>
                </a:solidFill>
                <a:latin typeface="Consolas"/>
              </a:rPr>
              <a:t>CS351 Final Demo · Max Shen · @max-shen378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TotalTime>
  <Words>3518</Words>
  <Application>Microsoft Office PowerPoint</Application>
  <PresentationFormat>Widescreen</PresentationFormat>
  <Paragraphs>267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CS351 Final Demo — Max Shen</dc:title>
  <dc:subject/>
  <dc:creator>Max Shen</dc:creator>
  <cp:keywords/>
  <dc:description>generated using python-pptx</dc:description>
  <cp:lastModifiedBy>Maximiliano Shen</cp:lastModifiedBy>
  <cp:revision>3</cp:revision>
  <dcterms:created xsi:type="dcterms:W3CDTF">2013-01-27T09:14:16Z</dcterms:created>
  <dcterms:modified xsi:type="dcterms:W3CDTF">2026-06-23T12:13:26Z</dcterms:modified>
  <cp:category/>
</cp:coreProperties>
</file>